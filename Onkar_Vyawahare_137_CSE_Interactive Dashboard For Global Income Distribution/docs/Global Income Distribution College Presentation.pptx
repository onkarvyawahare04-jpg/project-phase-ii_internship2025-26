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67" r:id="rId9"/>
    <p:sldId id="264" r:id="rId10"/>
    <p:sldId id="265" r:id="rId11"/>
    <p:sldId id="266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2E45"/>
    <a:srgbClr val="EF476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62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8C4D9-F2C0-71C4-45FD-43765B8F8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5B2288-FBDA-2E6C-10B3-0A7044C69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A2C044-743D-F3D2-6042-58A118F6E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FE975-8084-DC36-E9FA-BBC26CCCBC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99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87630"/>
            <a:ext cx="9144000" cy="50017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0" y="54102"/>
            <a:ext cx="137160" cy="5035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139952"/>
            <a:ext cx="8595360" cy="1936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 Dashboard </a:t>
            </a: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Global Income Distribution</a:t>
            </a:r>
            <a:endParaRPr lang="en-US" sz="3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Virtual Internship 6.0  |  Batch 13</a:t>
            </a:r>
            <a:endParaRPr lang="en-US" sz="1400" b="1" dirty="0"/>
          </a:p>
        </p:txBody>
      </p:sp>
      <p:sp>
        <p:nvSpPr>
          <p:cNvPr id="10" name="Text 8"/>
          <p:cNvSpPr/>
          <p:nvPr/>
        </p:nvSpPr>
        <p:spPr>
          <a:xfrm>
            <a:off x="320040" y="3200399"/>
            <a:ext cx="8595360" cy="9418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b="1" dirty="0">
              <a:solidFill>
                <a:srgbClr val="F9C7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4380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08860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63340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17820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72300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4087368"/>
            <a:ext cx="8595360" cy="436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00" b="1" i="1" dirty="0">
                <a:solidFill>
                  <a:schemeClr val="accent5"/>
                </a:solidFill>
                <a:ea typeface="Aptos"/>
                <a:cs typeface="Times New Roman" panose="02020603050405020304" pitchFamily="18" charset="0"/>
              </a:rPr>
              <a:t>https://onkarvyawahare04.pythonanywhere.com</a:t>
            </a:r>
            <a:endParaRPr lang="en-US" sz="1000" b="1" i="1" dirty="0">
              <a:solidFill>
                <a:schemeClr val="accent5"/>
              </a:solidFill>
            </a:endParaRPr>
          </a:p>
        </p:txBody>
      </p:sp>
      <p:pic>
        <p:nvPicPr>
          <p:cNvPr id="1026" name="Picture 2" descr="Advancing Digital Inclusion | Infosys Springboard">
            <a:extLst>
              <a:ext uri="{FF2B5EF4-FFF2-40B4-BE49-F238E27FC236}">
                <a16:creationId xmlns:a16="http://schemas.microsoft.com/office/drawing/2014/main" id="{D7AC7D71-267A-7BA3-883F-C053167A7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487" y="619506"/>
            <a:ext cx="1060599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Project Overview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5029200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41732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research-grade full-stack web application developed during the Infosys Springboard Virtual Internship 6.0 (8 weeks).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analyzes and visualizes global income inequality, transforming raw World Bank data into interactive, actionable insights for researchers, students, and policymakers.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advanced data analytics with a modern full-stack web portal accessible to the public.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466344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35478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8 Weeks  |  Start: 02 Feb 2026  |  Submission: 30 Mar 2026</a:t>
            </a:r>
            <a:endParaRPr lang="en-US" sz="950" b="1" i="1" dirty="0">
              <a:solidFill>
                <a:srgbClr val="FFC000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532120" y="914400"/>
            <a:ext cx="33375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532120" y="91440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0" y="9601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Analytics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13075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transform World Bank datasets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32120" y="1874520"/>
            <a:ext cx="33375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532120" y="187452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69280" y="19202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Dashboard Development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22677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analytical dashboard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32120" y="2834640"/>
            <a:ext cx="33375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532120" y="283464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669280" y="28803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Application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32278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Html , CSS , JS , SQL Lite web portal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32120" y="3794760"/>
            <a:ext cx="33375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532120" y="379476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669280" y="38404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Secure Admin Portal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41879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auth, user management &amp; telemetry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200" b="1" dirty="0">
                <a:solidFill>
                  <a:schemeClr val="bg1"/>
                </a:solidFill>
              </a:rPr>
              <a:t>02  |  </a:t>
            </a:r>
            <a:r>
              <a:rPr sz="2200" b="1" dirty="0">
                <a:solidFill>
                  <a:schemeClr val="bg1"/>
                </a:solidFill>
              </a:rPr>
              <a:t>Project </a:t>
            </a:r>
            <a:r>
              <a:rPr lang="en-IN" sz="2200" b="1" dirty="0">
                <a:solidFill>
                  <a:schemeClr val="bg1"/>
                </a:solidFill>
              </a:rPr>
              <a:t> </a:t>
            </a:r>
            <a:r>
              <a:rPr sz="2200" b="1" dirty="0">
                <a:solidFill>
                  <a:schemeClr val="bg1"/>
                </a:solidFill>
              </a:rPr>
              <a:t>Workflow</a:t>
            </a:r>
          </a:p>
        </p:txBody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 rot="184381">
            <a:off x="548714" y="2743202"/>
            <a:ext cx="457200" cy="454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2336" y="148590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346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860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20116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46504" y="146304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4650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9164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747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9544" y="146304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954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5468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9377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72584" y="146304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7258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1772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008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35624" y="146304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3562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08076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78638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598664" y="146304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59866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54380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0846730-3375-46E7-4616-9A50BF0B43AB}"/>
              </a:ext>
            </a:extLst>
          </p:cNvPr>
          <p:cNvSpPr/>
          <p:nvPr/>
        </p:nvSpPr>
        <p:spPr>
          <a:xfrm>
            <a:off x="0" y="4931983"/>
            <a:ext cx="9144000" cy="21031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Infosys Springboard  |  Interactive Analytics Dashboard – Global Income Distribution 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200F21-BB17-374D-D0F3-DD246F69EF34}"/>
              </a:ext>
            </a:extLst>
          </p:cNvPr>
          <p:cNvSpPr txBox="1"/>
          <p:nvPr/>
        </p:nvSpPr>
        <p:spPr>
          <a:xfrm>
            <a:off x="90696" y="822350"/>
            <a:ext cx="3841223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Start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6DB6FAD-56CF-61A5-75C3-AD14E1AE15C5}"/>
              </a:ext>
            </a:extLst>
          </p:cNvPr>
          <p:cNvSpPr txBox="1"/>
          <p:nvPr/>
        </p:nvSpPr>
        <p:spPr>
          <a:xfrm>
            <a:off x="90696" y="1298064"/>
            <a:ext cx="3841222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Data Collection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29D66C-754A-C51A-1C46-D3F5DB7EFC41}"/>
              </a:ext>
            </a:extLst>
          </p:cNvPr>
          <p:cNvSpPr txBox="1"/>
          <p:nvPr/>
        </p:nvSpPr>
        <p:spPr>
          <a:xfrm>
            <a:off x="91069" y="1757550"/>
            <a:ext cx="3841222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Data Preprocessing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C2EAAB-489E-D31F-7CF0-91CB6BC3870B}"/>
              </a:ext>
            </a:extLst>
          </p:cNvPr>
          <p:cNvSpPr txBox="1"/>
          <p:nvPr/>
        </p:nvSpPr>
        <p:spPr>
          <a:xfrm>
            <a:off x="90696" y="2201816"/>
            <a:ext cx="3841224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Data Structuring &amp; Transformation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776F0B1-92EC-F895-CD6F-C094D672B9ED}"/>
              </a:ext>
            </a:extLst>
          </p:cNvPr>
          <p:cNvSpPr txBox="1"/>
          <p:nvPr/>
        </p:nvSpPr>
        <p:spPr>
          <a:xfrm>
            <a:off x="88463" y="2655586"/>
            <a:ext cx="3841224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Power BI Dashboard Development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DBAC64-DE27-B4D9-FF82-CDAE24B776CC}"/>
              </a:ext>
            </a:extLst>
          </p:cNvPr>
          <p:cNvSpPr txBox="1"/>
          <p:nvPr/>
        </p:nvSpPr>
        <p:spPr>
          <a:xfrm>
            <a:off x="90696" y="3130152"/>
            <a:ext cx="3841222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Web App Integration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0EF866-F22F-2C16-5E14-9CF12F5C0CBE}"/>
              </a:ext>
            </a:extLst>
          </p:cNvPr>
          <p:cNvSpPr txBox="1"/>
          <p:nvPr/>
        </p:nvSpPr>
        <p:spPr>
          <a:xfrm>
            <a:off x="90696" y="3586587"/>
            <a:ext cx="3841224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Testing &amp; Review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A590AE-04CE-7ADE-7E25-C6C43ACEFED6}"/>
              </a:ext>
            </a:extLst>
          </p:cNvPr>
          <p:cNvSpPr txBox="1"/>
          <p:nvPr/>
        </p:nvSpPr>
        <p:spPr>
          <a:xfrm>
            <a:off x="90696" y="4033947"/>
            <a:ext cx="3841222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Documentation &amp; Final Report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BEDCA9-4D5E-4F64-389F-8C30DF3D2B10}"/>
              </a:ext>
            </a:extLst>
          </p:cNvPr>
          <p:cNvSpPr txBox="1"/>
          <p:nvPr/>
        </p:nvSpPr>
        <p:spPr>
          <a:xfrm>
            <a:off x="90696" y="4475548"/>
            <a:ext cx="3841224" cy="338554"/>
          </a:xfrm>
          <a:prstGeom prst="rect">
            <a:avLst/>
          </a:prstGeom>
          <a:solidFill>
            <a:srgbClr val="FFC000"/>
          </a:solidFill>
          <a:ln>
            <a:solidFill>
              <a:srgbClr val="EF476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End</a:t>
            </a:r>
          </a:p>
        </p:txBody>
      </p:sp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D8FAC72A-8571-2996-4BC4-51FC6740A77E}"/>
              </a:ext>
            </a:extLst>
          </p:cNvPr>
          <p:cNvSpPr/>
          <p:nvPr/>
        </p:nvSpPr>
        <p:spPr>
          <a:xfrm>
            <a:off x="3971330" y="2439889"/>
            <a:ext cx="251860" cy="364555"/>
          </a:xfrm>
          <a:prstGeom prst="curved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Arrow: Curved Left 10">
            <a:extLst>
              <a:ext uri="{FF2B5EF4-FFF2-40B4-BE49-F238E27FC236}">
                <a16:creationId xmlns:a16="http://schemas.microsoft.com/office/drawing/2014/main" id="{18E5FF5B-240C-60D4-BCFD-12A5E87A1C3C}"/>
              </a:ext>
            </a:extLst>
          </p:cNvPr>
          <p:cNvSpPr/>
          <p:nvPr/>
        </p:nvSpPr>
        <p:spPr>
          <a:xfrm>
            <a:off x="3971330" y="1546400"/>
            <a:ext cx="251860" cy="364555"/>
          </a:xfrm>
          <a:prstGeom prst="curved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Arrow: Curved Left 11">
            <a:extLst>
              <a:ext uri="{FF2B5EF4-FFF2-40B4-BE49-F238E27FC236}">
                <a16:creationId xmlns:a16="http://schemas.microsoft.com/office/drawing/2014/main" id="{2C9A1E18-6901-0925-5FF3-BDC6DBFE9EC8}"/>
              </a:ext>
            </a:extLst>
          </p:cNvPr>
          <p:cNvSpPr/>
          <p:nvPr/>
        </p:nvSpPr>
        <p:spPr>
          <a:xfrm>
            <a:off x="3971330" y="2001851"/>
            <a:ext cx="251860" cy="364555"/>
          </a:xfrm>
          <a:prstGeom prst="curved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Arrow: Curved Left 15">
            <a:extLst>
              <a:ext uri="{FF2B5EF4-FFF2-40B4-BE49-F238E27FC236}">
                <a16:creationId xmlns:a16="http://schemas.microsoft.com/office/drawing/2014/main" id="{E91AEE59-F2E2-1F82-7A81-808C2F39CD0F}"/>
              </a:ext>
            </a:extLst>
          </p:cNvPr>
          <p:cNvSpPr/>
          <p:nvPr/>
        </p:nvSpPr>
        <p:spPr>
          <a:xfrm>
            <a:off x="3975055" y="1059004"/>
            <a:ext cx="251860" cy="364555"/>
          </a:xfrm>
          <a:prstGeom prst="curved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Arrow: Curved Left 17">
            <a:extLst>
              <a:ext uri="{FF2B5EF4-FFF2-40B4-BE49-F238E27FC236}">
                <a16:creationId xmlns:a16="http://schemas.microsoft.com/office/drawing/2014/main" id="{7569D701-F483-4510-03D7-790A5DF4445E}"/>
              </a:ext>
            </a:extLst>
          </p:cNvPr>
          <p:cNvSpPr/>
          <p:nvPr/>
        </p:nvSpPr>
        <p:spPr>
          <a:xfrm>
            <a:off x="3975055" y="2897988"/>
            <a:ext cx="251860" cy="364555"/>
          </a:xfrm>
          <a:prstGeom prst="curved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Arrow: Curved Left 18">
            <a:extLst>
              <a:ext uri="{FF2B5EF4-FFF2-40B4-BE49-F238E27FC236}">
                <a16:creationId xmlns:a16="http://schemas.microsoft.com/office/drawing/2014/main" id="{DD880C01-9F9F-5570-61BA-D1C92DBEEC1F}"/>
              </a:ext>
            </a:extLst>
          </p:cNvPr>
          <p:cNvSpPr/>
          <p:nvPr/>
        </p:nvSpPr>
        <p:spPr>
          <a:xfrm>
            <a:off x="3975055" y="3375762"/>
            <a:ext cx="251860" cy="364555"/>
          </a:xfrm>
          <a:prstGeom prst="curved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Arrow: Curved Left 22">
            <a:extLst>
              <a:ext uri="{FF2B5EF4-FFF2-40B4-BE49-F238E27FC236}">
                <a16:creationId xmlns:a16="http://schemas.microsoft.com/office/drawing/2014/main" id="{FF73906C-E89E-0EB6-FDF2-9A7B5EBA1954}"/>
              </a:ext>
            </a:extLst>
          </p:cNvPr>
          <p:cNvSpPr/>
          <p:nvPr/>
        </p:nvSpPr>
        <p:spPr>
          <a:xfrm>
            <a:off x="3980430" y="3829446"/>
            <a:ext cx="251860" cy="364555"/>
          </a:xfrm>
          <a:prstGeom prst="curved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5" name="Arrow: Curved Left 24">
            <a:extLst>
              <a:ext uri="{FF2B5EF4-FFF2-40B4-BE49-F238E27FC236}">
                <a16:creationId xmlns:a16="http://schemas.microsoft.com/office/drawing/2014/main" id="{F2A271BD-ECB8-DBA4-8A5A-9EB0404D0E01}"/>
              </a:ext>
            </a:extLst>
          </p:cNvPr>
          <p:cNvSpPr/>
          <p:nvPr/>
        </p:nvSpPr>
        <p:spPr>
          <a:xfrm>
            <a:off x="3980430" y="4270709"/>
            <a:ext cx="251860" cy="364555"/>
          </a:xfrm>
          <a:prstGeom prst="curved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8EF0272-2077-B61F-73AC-A7832EC38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976" y="822350"/>
            <a:ext cx="4159024" cy="39917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920921"/>
            <a:ext cx="4146804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411480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Steps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36245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362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8368" y="132588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</a:t>
            </a: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81328" y="13258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database – Gini Index, GDP per capita, Unemployment rate, Income share by decile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191109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1911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8368" y="187452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—</a:t>
            </a: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81328" y="1874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irrelevant columns, standardized field names, converted inconsistent formats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245973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" y="24597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8368" y="242316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— </a:t>
            </a:r>
            <a:endParaRPr lang="en-US" sz="950" dirty="0">
              <a:solidFill>
                <a:srgbClr val="00B05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81328" y="24231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linear interpolation for sparse years; used country averages where interpolation not feasible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" y="300837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0040" y="3008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8368" y="297180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Format — </a:t>
            </a:r>
            <a:endParaRPr lang="en-US" sz="950" dirty="0">
              <a:solidFill>
                <a:srgbClr val="00B05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81328" y="2971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all indicator files from wide to long format (Country × Year rows)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0040" y="355701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0040" y="3557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8368" y="352044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—</a:t>
            </a: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481328" y="3520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all datasets on Country + Year into a single unified master sheet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20040" y="410565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41056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8368" y="406908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</a:t>
            </a: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481328" y="4069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numeric types, confirmed Year as integer, checked for blank/null values in Power BI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72000" y="914400"/>
            <a:ext cx="4343400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572000" y="914400"/>
            <a:ext cx="4343400" cy="34747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63440" y="9144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in Master Sheet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176709"/>
              </p:ext>
            </p:extLst>
          </p:nvPr>
        </p:nvGraphicFramePr>
        <p:xfrm>
          <a:off x="4663440" y="1325880"/>
          <a:ext cx="4160520" cy="3295739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Column Name</a:t>
                      </a:r>
                      <a:endParaRPr lang="en-US" sz="12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Description</a:t>
                      </a:r>
                      <a:endParaRPr lang="en-US" sz="12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2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Country_Name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name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year (2001–2024)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Gini_Index</a:t>
                      </a: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(0-100)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inequality coefficient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GDP_Per_Capita ($)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900" dirty="0">
                          <a:solidFill>
                            <a:schemeClr val="bg1"/>
                          </a:solidFill>
                        </a:rPr>
                        <a:t>Per Capita Income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Income_Share_By_Decile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900" dirty="0">
                          <a:solidFill>
                            <a:schemeClr val="bg1"/>
                          </a:solidFill>
                        </a:rPr>
                        <a:t>Income Distribution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Unemployement_Rate</a:t>
                      </a: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(%)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900" dirty="0">
                          <a:solidFill>
                            <a:schemeClr val="bg1"/>
                          </a:solidFill>
                        </a:rPr>
                        <a:t>Joblessness Rate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Country_Continent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Continent Name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GDP_Per_Capita_Category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900" dirty="0">
                          <a:solidFill>
                            <a:schemeClr val="bg1"/>
                          </a:solidFill>
                        </a:rPr>
                        <a:t>Income Classification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Gini_Inequality_Level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900" dirty="0">
                          <a:solidFill>
                            <a:schemeClr val="bg1"/>
                          </a:solidFill>
                        </a:rPr>
                        <a:t>Income Inequality Level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Middle_Class_Income_Share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900" dirty="0">
                          <a:solidFill>
                            <a:schemeClr val="bg1"/>
                          </a:solidFill>
                        </a:rPr>
                        <a:t>Middle Class Share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Unemployment_Level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900" dirty="0">
                          <a:solidFill>
                            <a:schemeClr val="bg1"/>
                          </a:solidFill>
                        </a:rPr>
                        <a:t>Unemployment Category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1B2E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2876" y="194918"/>
            <a:ext cx="387029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IN" sz="2200" dirty="0"/>
              <a:t>03  |  Master Sheet Preparation</a:t>
            </a:r>
            <a:endParaRPr sz="2200" dirty="0"/>
          </a:p>
        </p:txBody>
      </p:sp>
      <p:sp>
        <p:nvSpPr>
          <p:cNvPr id="44" name="Rectangle 43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82880" y="4937760"/>
            <a:ext cx="376096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rPr sz="800" b="1" dirty="0">
                <a:solidFill>
                  <a:schemeClr val="bg1"/>
                </a:solidFill>
              </a:rPr>
              <a:t>Infosys Springboard  |  Interactive Analytics Dashboard – Global Income Distribution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ED177FE0-9115-05F1-718A-F90F25C5A339}"/>
              </a:ext>
            </a:extLst>
          </p:cNvPr>
          <p:cNvSpPr/>
          <p:nvPr/>
        </p:nvSpPr>
        <p:spPr>
          <a:xfrm>
            <a:off x="-7570" y="71072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C6B02378-1685-197C-20CC-319B65684D6D}"/>
              </a:ext>
            </a:extLst>
          </p:cNvPr>
          <p:cNvSpPr/>
          <p:nvPr/>
        </p:nvSpPr>
        <p:spPr>
          <a:xfrm>
            <a:off x="-5671" y="353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38404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Dashboard Overview (Power BI)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1460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0916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0372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552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01752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01752" y="3182112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51176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057400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057400" y="3182112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306824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813048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813048" y="3182112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6247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568696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68696" y="3182112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8181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324344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324344" y="3182112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ABE680B-0AA5-7E35-3A10-7C7A3D77F760}"/>
              </a:ext>
            </a:extLst>
          </p:cNvPr>
          <p:cNvSpPr txBox="1"/>
          <p:nvPr/>
        </p:nvSpPr>
        <p:spPr>
          <a:xfrm>
            <a:off x="32004" y="448276"/>
            <a:ext cx="222165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>
                <a:solidFill>
                  <a:schemeClr val="bg1"/>
                </a:solidFill>
              </a:rPr>
              <a:t>Sections Overview :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8D80AE-39F2-66C6-3D82-8C40B31648C1}"/>
              </a:ext>
            </a:extLst>
          </p:cNvPr>
          <p:cNvSpPr txBox="1"/>
          <p:nvPr/>
        </p:nvSpPr>
        <p:spPr>
          <a:xfrm>
            <a:off x="32004" y="704634"/>
            <a:ext cx="4238244" cy="9387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FFC000"/>
                </a:solidFill>
              </a:rPr>
              <a:t>Slicers</a:t>
            </a:r>
          </a:p>
          <a:p>
            <a:r>
              <a:rPr lang="en-IN" sz="1100" dirty="0">
                <a:solidFill>
                  <a:srgbClr val="FFC000"/>
                </a:solidFill>
              </a:rPr>
              <a:t>Year : </a:t>
            </a:r>
            <a:r>
              <a:rPr lang="en-IN" sz="1100" dirty="0">
                <a:solidFill>
                  <a:schemeClr val="bg1"/>
                </a:solidFill>
              </a:rPr>
              <a:t>(2001-2024)</a:t>
            </a:r>
          </a:p>
          <a:p>
            <a:r>
              <a:rPr lang="en-IN" sz="1100" dirty="0">
                <a:solidFill>
                  <a:srgbClr val="FFC000"/>
                </a:solidFill>
              </a:rPr>
              <a:t>Country Continent : </a:t>
            </a:r>
            <a:r>
              <a:rPr lang="en-IN" sz="1100" dirty="0">
                <a:solidFill>
                  <a:schemeClr val="bg1"/>
                </a:solidFill>
              </a:rPr>
              <a:t>Continent Names</a:t>
            </a:r>
          </a:p>
          <a:p>
            <a:r>
              <a:rPr lang="en-IN" sz="1100" dirty="0">
                <a:solidFill>
                  <a:srgbClr val="FFC000"/>
                </a:solidFill>
              </a:rPr>
              <a:t>Country Names : </a:t>
            </a:r>
            <a:r>
              <a:rPr lang="en-IN" sz="1100" dirty="0">
                <a:solidFill>
                  <a:schemeClr val="bg1"/>
                </a:solidFill>
              </a:rPr>
              <a:t>(20) Countries</a:t>
            </a:r>
          </a:p>
          <a:p>
            <a:r>
              <a:rPr lang="en-IN" sz="1100" dirty="0">
                <a:solidFill>
                  <a:srgbClr val="FFC000"/>
                </a:solidFill>
              </a:rPr>
              <a:t>Year Group : </a:t>
            </a:r>
            <a:r>
              <a:rPr lang="en-IN" sz="1100" dirty="0">
                <a:solidFill>
                  <a:schemeClr val="bg1"/>
                </a:solidFill>
              </a:rPr>
              <a:t>After or Before 2010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6FB7AA-8F98-F491-1FEB-2DE0D31D3520}"/>
              </a:ext>
            </a:extLst>
          </p:cNvPr>
          <p:cNvSpPr txBox="1"/>
          <p:nvPr/>
        </p:nvSpPr>
        <p:spPr>
          <a:xfrm>
            <a:off x="40301" y="1693634"/>
            <a:ext cx="4238244" cy="15542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dirty="0" err="1">
                <a:solidFill>
                  <a:schemeClr val="accent2"/>
                </a:solidFill>
              </a:rPr>
              <a:t>Kpi</a:t>
            </a:r>
            <a:r>
              <a:rPr lang="en-IN" sz="1100" dirty="0">
                <a:solidFill>
                  <a:schemeClr val="accent2"/>
                </a:solidFill>
              </a:rPr>
              <a:t> Section</a:t>
            </a:r>
          </a:p>
          <a:p>
            <a:r>
              <a:rPr lang="en-IN" sz="1100" dirty="0">
                <a:solidFill>
                  <a:schemeClr val="accent2"/>
                </a:solidFill>
              </a:rPr>
              <a:t>Total Countries : </a:t>
            </a:r>
            <a:r>
              <a:rPr lang="en-IN" sz="1100" dirty="0">
                <a:solidFill>
                  <a:schemeClr val="bg1"/>
                </a:solidFill>
              </a:rPr>
              <a:t>20</a:t>
            </a:r>
            <a:r>
              <a:rPr lang="en-IN" sz="1100" dirty="0"/>
              <a:t> </a:t>
            </a:r>
          </a:p>
          <a:p>
            <a:r>
              <a:rPr lang="en-IN" sz="1100" dirty="0">
                <a:solidFill>
                  <a:schemeClr val="accent2"/>
                </a:solidFill>
              </a:rPr>
              <a:t>Total GDP Per Capita : </a:t>
            </a:r>
            <a:r>
              <a:rPr lang="en-IN" sz="1100" dirty="0">
                <a:solidFill>
                  <a:schemeClr val="bg1"/>
                </a:solidFill>
              </a:rPr>
              <a:t>Economic Indicator</a:t>
            </a:r>
          </a:p>
          <a:p>
            <a:r>
              <a:rPr lang="en-IN" sz="1100" dirty="0">
                <a:solidFill>
                  <a:schemeClr val="accent2"/>
                </a:solidFill>
              </a:rPr>
              <a:t>Total Gini Index : </a:t>
            </a:r>
            <a:r>
              <a:rPr lang="en-IN" sz="1100" dirty="0">
                <a:solidFill>
                  <a:schemeClr val="bg1"/>
                </a:solidFill>
              </a:rPr>
              <a:t>Inequality Index</a:t>
            </a:r>
          </a:p>
          <a:p>
            <a:r>
              <a:rPr lang="en-IN" sz="1100" dirty="0">
                <a:solidFill>
                  <a:schemeClr val="accent2"/>
                </a:solidFill>
              </a:rPr>
              <a:t>Total Unemployment Rate : </a:t>
            </a:r>
            <a:r>
              <a:rPr lang="en-IN" sz="1100" dirty="0">
                <a:solidFill>
                  <a:schemeClr val="bg1"/>
                </a:solidFill>
              </a:rPr>
              <a:t>Jobless Rate</a:t>
            </a:r>
          </a:p>
          <a:p>
            <a:r>
              <a:rPr lang="en-IN" sz="1100" dirty="0">
                <a:solidFill>
                  <a:schemeClr val="accent2"/>
                </a:solidFill>
              </a:rPr>
              <a:t>Country Strength Score : </a:t>
            </a:r>
            <a:r>
              <a:rPr lang="en-IN" sz="1100" dirty="0">
                <a:solidFill>
                  <a:schemeClr val="bg1"/>
                </a:solidFill>
              </a:rPr>
              <a:t>Economic Strength</a:t>
            </a:r>
          </a:p>
          <a:p>
            <a:r>
              <a:rPr lang="en-IN" sz="1100" dirty="0">
                <a:solidFill>
                  <a:schemeClr val="accent2"/>
                </a:solidFill>
              </a:rPr>
              <a:t>Gini Inequality Severity : </a:t>
            </a:r>
            <a:r>
              <a:rPr lang="en-IN" sz="1100" dirty="0">
                <a:solidFill>
                  <a:schemeClr val="bg1"/>
                </a:solidFill>
              </a:rPr>
              <a:t>income inequality</a:t>
            </a:r>
          </a:p>
          <a:p>
            <a:endParaRPr lang="en-IN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BED10B1-DA07-0821-F165-B1ECBA34B94A}"/>
              </a:ext>
            </a:extLst>
          </p:cNvPr>
          <p:cNvSpPr txBox="1"/>
          <p:nvPr/>
        </p:nvSpPr>
        <p:spPr>
          <a:xfrm>
            <a:off x="39549" y="3291840"/>
            <a:ext cx="4238996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FF0000"/>
                </a:solidFill>
              </a:rPr>
              <a:t>Global Overview Section </a:t>
            </a:r>
          </a:p>
          <a:p>
            <a:r>
              <a:rPr lang="en-US" sz="1100" dirty="0">
                <a:solidFill>
                  <a:srgbClr val="FF0000"/>
                </a:solidFill>
              </a:rPr>
              <a:t>Top 10 Countries by Income Inequality (Gini Index) : </a:t>
            </a:r>
            <a:r>
              <a:rPr lang="en-US" sz="1100" dirty="0">
                <a:solidFill>
                  <a:schemeClr val="bg1"/>
                </a:solidFill>
              </a:rPr>
              <a:t>Vertical bar chart</a:t>
            </a:r>
          </a:p>
          <a:p>
            <a:r>
              <a:rPr lang="en-US" sz="1100" dirty="0">
                <a:solidFill>
                  <a:srgbClr val="FF0000"/>
                </a:solidFill>
              </a:rPr>
              <a:t>Income Inequality Distribution Across Countries : </a:t>
            </a:r>
            <a:r>
              <a:rPr lang="en-IN" sz="1100" dirty="0">
                <a:solidFill>
                  <a:schemeClr val="bg1"/>
                </a:solidFill>
              </a:rPr>
              <a:t>Choropleth map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IN" sz="1100" dirty="0">
                <a:solidFill>
                  <a:srgbClr val="FF0000"/>
                </a:solidFill>
              </a:rPr>
              <a:t>Global Income Distribution Structure : </a:t>
            </a:r>
            <a:r>
              <a:rPr lang="en-IN" sz="1100" dirty="0">
                <a:solidFill>
                  <a:schemeClr val="bg1"/>
                </a:solidFill>
              </a:rPr>
              <a:t>Donut Chart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5FD27A-C1F9-6877-1630-555042C044A2}"/>
              </a:ext>
            </a:extLst>
          </p:cNvPr>
          <p:cNvSpPr txBox="1"/>
          <p:nvPr/>
        </p:nvSpPr>
        <p:spPr>
          <a:xfrm>
            <a:off x="30838" y="4105215"/>
            <a:ext cx="4247707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B0F0"/>
                </a:solidFill>
              </a:rPr>
              <a:t>Regional Comparison Section </a:t>
            </a:r>
          </a:p>
          <a:p>
            <a:r>
              <a:rPr lang="it-IT" sz="1100" dirty="0">
                <a:solidFill>
                  <a:srgbClr val="00B0F0"/>
                </a:solidFill>
              </a:rPr>
              <a:t>Regional GDP Per Capita Comparison : </a:t>
            </a:r>
            <a:r>
              <a:rPr lang="it-IT" sz="1100" dirty="0">
                <a:solidFill>
                  <a:schemeClr val="bg1"/>
                </a:solidFill>
              </a:rPr>
              <a:t>Bar chart</a:t>
            </a:r>
          </a:p>
          <a:p>
            <a:r>
              <a:rPr lang="en-US" sz="1100" dirty="0">
                <a:solidFill>
                  <a:srgbClr val="00B0F0"/>
                </a:solidFill>
              </a:rPr>
              <a:t>Regional Income Inequality Levels (Gini Index) : </a:t>
            </a:r>
            <a:r>
              <a:rPr lang="en-US" sz="1100" dirty="0">
                <a:solidFill>
                  <a:schemeClr val="bg1"/>
                </a:solidFill>
              </a:rPr>
              <a:t>Vertical bar Chart</a:t>
            </a:r>
          </a:p>
          <a:p>
            <a:r>
              <a:rPr lang="en-IN" sz="1100" dirty="0">
                <a:solidFill>
                  <a:srgbClr val="00B0F0"/>
                </a:solidFill>
              </a:rPr>
              <a:t>Regional Unemployment Rate Comparison : </a:t>
            </a:r>
            <a:r>
              <a:rPr lang="en-IN" sz="1100" dirty="0">
                <a:solidFill>
                  <a:schemeClr val="bg1"/>
                </a:solidFill>
              </a:rPr>
              <a:t>Vertical bar chart </a:t>
            </a:r>
            <a:endParaRPr lang="it-IT" sz="1100" dirty="0">
              <a:solidFill>
                <a:schemeClr val="bg1"/>
              </a:solidFill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26FE5C07-1E83-6425-8186-9FC58ACD7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276" y="466344"/>
            <a:ext cx="4646318" cy="4453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Dashboard Overview &amp; Global Insights 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26346" y="1093216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-539496" y="562356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0515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146304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10515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146304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718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38328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29718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91840" y="338328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29718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338328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E6AED2-23A5-0F3E-7700-0C0BBD2C603A}"/>
              </a:ext>
            </a:extLst>
          </p:cNvPr>
          <p:cNvSpPr txBox="1"/>
          <p:nvPr/>
        </p:nvSpPr>
        <p:spPr>
          <a:xfrm>
            <a:off x="40640" y="813816"/>
            <a:ext cx="3300306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B050"/>
                </a:solidFill>
              </a:rPr>
              <a:t>Trend Analysis Section (YOY Change )</a:t>
            </a:r>
          </a:p>
          <a:p>
            <a:r>
              <a:rPr lang="en-US" sz="1100" dirty="0">
                <a:solidFill>
                  <a:srgbClr val="00B050"/>
                </a:solidFill>
              </a:rPr>
              <a:t>GDP Per Capita Growth Trend Over Time : </a:t>
            </a:r>
            <a:r>
              <a:rPr lang="en-US" sz="1100" dirty="0">
                <a:solidFill>
                  <a:schemeClr val="bg1"/>
                </a:solidFill>
              </a:rPr>
              <a:t>Line Chart</a:t>
            </a:r>
          </a:p>
          <a:p>
            <a:r>
              <a:rPr lang="en-IN" sz="1100" dirty="0">
                <a:solidFill>
                  <a:srgbClr val="00B050"/>
                </a:solidFill>
              </a:rPr>
              <a:t>Income Inequality Change Trend  : </a:t>
            </a:r>
            <a:r>
              <a:rPr lang="en-IN" sz="1100" dirty="0">
                <a:solidFill>
                  <a:schemeClr val="bg1"/>
                </a:solidFill>
              </a:rPr>
              <a:t>Line Chart </a:t>
            </a:r>
          </a:p>
          <a:p>
            <a:r>
              <a:rPr lang="en-IN" sz="1100" dirty="0">
                <a:solidFill>
                  <a:srgbClr val="00B050"/>
                </a:solidFill>
              </a:rPr>
              <a:t>Regional Unemployment Rate Comparison : </a:t>
            </a:r>
            <a:r>
              <a:rPr lang="en-IN" sz="1100" dirty="0">
                <a:solidFill>
                  <a:schemeClr val="bg1"/>
                </a:solidFill>
              </a:rPr>
              <a:t>Line Chart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AE3B26-6367-3093-5CB9-6611E622017E}"/>
              </a:ext>
            </a:extLst>
          </p:cNvPr>
          <p:cNvSpPr txBox="1"/>
          <p:nvPr/>
        </p:nvSpPr>
        <p:spPr>
          <a:xfrm>
            <a:off x="52324" y="1790700"/>
            <a:ext cx="3300306" cy="6001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EF476F"/>
                </a:solidFill>
              </a:rPr>
              <a:t>Indicators Comparison Section</a:t>
            </a:r>
          </a:p>
          <a:p>
            <a:r>
              <a:rPr lang="en-US" sz="1100" dirty="0">
                <a:solidFill>
                  <a:srgbClr val="EF476F"/>
                </a:solidFill>
              </a:rPr>
              <a:t>Economic Growth vs Income Inequality Across Countries</a:t>
            </a:r>
            <a:r>
              <a:rPr lang="en-IN" sz="1100" dirty="0">
                <a:solidFill>
                  <a:srgbClr val="EF476F"/>
                </a:solidFill>
              </a:rPr>
              <a:t>  :</a:t>
            </a:r>
            <a:r>
              <a:rPr lang="en-IN" sz="1100" dirty="0"/>
              <a:t> </a:t>
            </a:r>
            <a:r>
              <a:rPr lang="en-IN" sz="1100" dirty="0">
                <a:solidFill>
                  <a:schemeClr val="bg1"/>
                </a:solidFill>
              </a:rPr>
              <a:t>Scatter Plot Chart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5D5FCD-500B-14D5-2970-12997C4C1D64}"/>
              </a:ext>
            </a:extLst>
          </p:cNvPr>
          <p:cNvSpPr txBox="1"/>
          <p:nvPr/>
        </p:nvSpPr>
        <p:spPr>
          <a:xfrm>
            <a:off x="64008" y="2606040"/>
            <a:ext cx="3276938" cy="181588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</a:rPr>
              <a:t>Global Insights </a:t>
            </a:r>
          </a:p>
          <a:p>
            <a:endParaRPr lang="en-IN" sz="1600" dirty="0">
              <a:solidFill>
                <a:srgbClr val="FFFF00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Polarization of Wealth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Consistent High Inequality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Global Labor Disconnect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A23949B-A07E-C3B4-3C9B-A2420DDF1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698" y="768096"/>
            <a:ext cx="5501302" cy="4142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Website Implementation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30986"/>
            <a:ext cx="2743200" cy="19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830091"/>
            <a:ext cx="2743200" cy="401443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914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Area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1231536"/>
            <a:ext cx="2743200" cy="1695963"/>
          </a:xfrm>
          <a:prstGeom prst="rect">
            <a:avLst/>
          </a:prstGeom>
          <a:solidFill>
            <a:srgbClr val="1B2E45"/>
          </a:solidFill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Homepage with parallax animations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'About Inequality' — Gini Coefficient, Wealth Concentration explainers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'Visualizations Explained' — chart interpretation guides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54680" y="914400"/>
            <a:ext cx="2743200" cy="201309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154680" y="830092"/>
            <a:ext cx="2743200" cy="40144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46120" y="830092"/>
            <a:ext cx="2560320" cy="414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Area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54680" y="1231537"/>
            <a:ext cx="2743200" cy="1695962"/>
          </a:xfrm>
          <a:prstGeom prst="rect">
            <a:avLst/>
          </a:prstGeom>
          <a:solidFill>
            <a:srgbClr val="1B2E45"/>
          </a:solidFill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/ Log In with Email + Password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Power BI Dashboard via responsive </a:t>
            </a:r>
            <a:r>
              <a:rPr lang="en-US" sz="9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 Tool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 &amp; Downloads (spreadsheets / reports)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Tracking — page views, login frequency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80760" y="914401"/>
            <a:ext cx="2743200" cy="201309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80760" y="830092"/>
            <a:ext cx="2743200" cy="384047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72200" y="914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1214139"/>
            <a:ext cx="2743200" cy="1713359"/>
          </a:xfrm>
          <a:prstGeom prst="rect">
            <a:avLst/>
          </a:prstGeom>
          <a:solidFill>
            <a:srgbClr val="1B2E45"/>
          </a:solidFill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— total users, active sessions, query counts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— suspend, kick, or ban users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Logs — audit trail of admin actions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Management — read, reply &amp; resolve contact form messages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— one-click SQLite database dump to Excel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6409FD-AB5C-BF28-C898-C8C17AFBB934}"/>
              </a:ext>
            </a:extLst>
          </p:cNvPr>
          <p:cNvSpPr txBox="1"/>
          <p:nvPr/>
        </p:nvSpPr>
        <p:spPr>
          <a:xfrm>
            <a:off x="182880" y="308773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</a:rPr>
              <a:t>Hosting → Python Anywhere</a:t>
            </a: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B90E0D67-9B7F-5928-9ABD-A6C0C6746446}"/>
              </a:ext>
            </a:extLst>
          </p:cNvPr>
          <p:cNvSpPr/>
          <p:nvPr/>
        </p:nvSpPr>
        <p:spPr>
          <a:xfrm>
            <a:off x="2880360" y="2965116"/>
            <a:ext cx="329184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FFC000"/>
                </a:solidFill>
              </a:rPr>
              <a:t>User → Frontend (</a:t>
            </a:r>
            <a:r>
              <a:rPr lang="en-IN" b="1" dirty="0">
                <a:solidFill>
                  <a:srgbClr val="FFC000"/>
                </a:solidFill>
              </a:rPr>
              <a:t>HTML,CSS,JS</a:t>
            </a:r>
            <a:r>
              <a:rPr b="1" dirty="0">
                <a:solidFill>
                  <a:srgbClr val="FFC000"/>
                </a:solidFill>
              </a:rPr>
              <a:t>)</a:t>
            </a:r>
          </a:p>
        </p:txBody>
      </p:sp>
      <p:sp>
        <p:nvSpPr>
          <p:cNvPr id="27" name="Rounded Rectangle 4">
            <a:extLst>
              <a:ext uri="{FF2B5EF4-FFF2-40B4-BE49-F238E27FC236}">
                <a16:creationId xmlns:a16="http://schemas.microsoft.com/office/drawing/2014/main" id="{0BEA3B75-5875-FB30-74B6-CEDF419A8823}"/>
              </a:ext>
            </a:extLst>
          </p:cNvPr>
          <p:cNvSpPr/>
          <p:nvPr/>
        </p:nvSpPr>
        <p:spPr>
          <a:xfrm>
            <a:off x="2880360" y="3426284"/>
            <a:ext cx="329184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FFC000"/>
                </a:solidFill>
              </a:rPr>
              <a:t>Backend (</a:t>
            </a:r>
            <a:r>
              <a:rPr lang="en-IN" b="1" dirty="0">
                <a:solidFill>
                  <a:srgbClr val="FFC000"/>
                </a:solidFill>
              </a:rPr>
              <a:t>Python</a:t>
            </a:r>
            <a:r>
              <a:rPr b="1" dirty="0">
                <a:solidFill>
                  <a:srgbClr val="FFC000"/>
                </a:solidFill>
              </a:rPr>
              <a:t>)</a:t>
            </a:r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CB0D3234-D70F-55C9-4742-0B44EC8C16B8}"/>
              </a:ext>
            </a:extLst>
          </p:cNvPr>
          <p:cNvSpPr/>
          <p:nvPr/>
        </p:nvSpPr>
        <p:spPr>
          <a:xfrm>
            <a:off x="2880360" y="3890334"/>
            <a:ext cx="329184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FFC000"/>
                </a:solidFill>
              </a:rPr>
              <a:t>Database (SQLite)</a:t>
            </a:r>
          </a:p>
        </p:txBody>
      </p:sp>
      <p:sp>
        <p:nvSpPr>
          <p:cNvPr id="29" name="Rounded Rectangle 6">
            <a:extLst>
              <a:ext uri="{FF2B5EF4-FFF2-40B4-BE49-F238E27FC236}">
                <a16:creationId xmlns:a16="http://schemas.microsoft.com/office/drawing/2014/main" id="{46C6C017-FD64-8BE6-3611-DFBD8D8EA978}"/>
              </a:ext>
            </a:extLst>
          </p:cNvPr>
          <p:cNvSpPr/>
          <p:nvPr/>
        </p:nvSpPr>
        <p:spPr>
          <a:xfrm>
            <a:off x="2880360" y="4370132"/>
            <a:ext cx="3291840" cy="53001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FFC000"/>
                </a:solidFill>
              </a:rPr>
              <a:t>Power BI Dashboard (Embedded)</a:t>
            </a:r>
          </a:p>
        </p:txBody>
      </p:sp>
      <p:sp>
        <p:nvSpPr>
          <p:cNvPr id="30" name="Down Arrow 7">
            <a:extLst>
              <a:ext uri="{FF2B5EF4-FFF2-40B4-BE49-F238E27FC236}">
                <a16:creationId xmlns:a16="http://schemas.microsoft.com/office/drawing/2014/main" id="{E1DE17B1-500F-2056-1E9A-AF7A671FB07E}"/>
              </a:ext>
            </a:extLst>
          </p:cNvPr>
          <p:cNvSpPr/>
          <p:nvPr/>
        </p:nvSpPr>
        <p:spPr>
          <a:xfrm>
            <a:off x="4368631" y="3343988"/>
            <a:ext cx="109728" cy="82296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Down Arrow 7">
            <a:extLst>
              <a:ext uri="{FF2B5EF4-FFF2-40B4-BE49-F238E27FC236}">
                <a16:creationId xmlns:a16="http://schemas.microsoft.com/office/drawing/2014/main" id="{C5F9E7BB-F667-E2CE-36D3-7982183AAAFC}"/>
              </a:ext>
            </a:extLst>
          </p:cNvPr>
          <p:cNvSpPr/>
          <p:nvPr/>
        </p:nvSpPr>
        <p:spPr>
          <a:xfrm>
            <a:off x="4366260" y="3797077"/>
            <a:ext cx="109728" cy="82296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Down Arrow 7">
            <a:extLst>
              <a:ext uri="{FF2B5EF4-FFF2-40B4-BE49-F238E27FC236}">
                <a16:creationId xmlns:a16="http://schemas.microsoft.com/office/drawing/2014/main" id="{0ABCAD8A-1A39-6D32-A3CD-A96164F16F53}"/>
              </a:ext>
            </a:extLst>
          </p:cNvPr>
          <p:cNvSpPr/>
          <p:nvPr/>
        </p:nvSpPr>
        <p:spPr>
          <a:xfrm>
            <a:off x="4368631" y="4276587"/>
            <a:ext cx="109728" cy="82296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A130BD72-0161-CAEA-6BA0-34EFA365FCCC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Infosys Springboard  |  Interactive Analytics Dashboard – Global Income Distribution</a:t>
            </a:r>
            <a:endParaRPr lang="en-IN" sz="800" dirty="0">
              <a:solidFill>
                <a:schemeClr val="bg1"/>
              </a:solidFill>
            </a:endParaRPr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524A9351-BE6C-B4E5-A2A0-928418B0C3F1}"/>
              </a:ext>
            </a:extLst>
          </p:cNvPr>
          <p:cNvSpPr/>
          <p:nvPr/>
        </p:nvSpPr>
        <p:spPr>
          <a:xfrm>
            <a:off x="-5671" y="353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68226-B422-6F2E-6B7A-288B70A78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2A3718-A230-F8E7-0AD9-9F660B608878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F6DE91-C182-ACBE-1BDA-76061A3CDB9B}"/>
              </a:ext>
            </a:extLst>
          </p:cNvPr>
          <p:cNvSpPr/>
          <p:nvPr/>
        </p:nvSpPr>
        <p:spPr>
          <a:xfrm>
            <a:off x="64008" y="109728"/>
            <a:ext cx="8805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64180C6-1610-EF4A-861A-0DA178C90751}"/>
              </a:ext>
            </a:extLst>
          </p:cNvPr>
          <p:cNvSpPr/>
          <p:nvPr/>
        </p:nvSpPr>
        <p:spPr>
          <a:xfrm>
            <a:off x="274320" y="80467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5377AB-DA8C-AD1A-0B2A-C3158FD1E871}"/>
              </a:ext>
            </a:extLst>
          </p:cNvPr>
          <p:cNvSpPr/>
          <p:nvPr/>
        </p:nvSpPr>
        <p:spPr>
          <a:xfrm>
            <a:off x="274320" y="123444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BEA9810-4BDF-E41A-6C15-DC0FD624DF7F}"/>
              </a:ext>
            </a:extLst>
          </p:cNvPr>
          <p:cNvSpPr/>
          <p:nvPr/>
        </p:nvSpPr>
        <p:spPr>
          <a:xfrm>
            <a:off x="320040" y="2450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2CB81B0-BF70-3393-393D-4134F3518F4C}"/>
              </a:ext>
            </a:extLst>
          </p:cNvPr>
          <p:cNvSpPr/>
          <p:nvPr/>
        </p:nvSpPr>
        <p:spPr>
          <a:xfrm>
            <a:off x="320040" y="28529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FD6D199-9045-7D76-7D43-2036595A03AD}"/>
              </a:ext>
            </a:extLst>
          </p:cNvPr>
          <p:cNvSpPr/>
          <p:nvPr/>
        </p:nvSpPr>
        <p:spPr>
          <a:xfrm>
            <a:off x="3246120" y="2450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274871C-B163-09D2-803C-D48CA00B0520}"/>
              </a:ext>
            </a:extLst>
          </p:cNvPr>
          <p:cNvSpPr/>
          <p:nvPr/>
        </p:nvSpPr>
        <p:spPr>
          <a:xfrm>
            <a:off x="3246120" y="28529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9B17F31-F557-2B02-9B1C-6349C8DCB3C4}"/>
              </a:ext>
            </a:extLst>
          </p:cNvPr>
          <p:cNvSpPr/>
          <p:nvPr/>
        </p:nvSpPr>
        <p:spPr>
          <a:xfrm>
            <a:off x="6172200" y="2450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5CDE13F-E699-2334-2CE5-0158996186E8}"/>
              </a:ext>
            </a:extLst>
          </p:cNvPr>
          <p:cNvSpPr/>
          <p:nvPr/>
        </p:nvSpPr>
        <p:spPr>
          <a:xfrm>
            <a:off x="6172200" y="28529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8118A11-12E9-DE1C-2575-49C37CADA2E7}"/>
              </a:ext>
            </a:extLst>
          </p:cNvPr>
          <p:cNvSpPr/>
          <p:nvPr/>
        </p:nvSpPr>
        <p:spPr>
          <a:xfrm>
            <a:off x="274320" y="39776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9EADD73-5D38-75CC-9025-33855C687734}"/>
              </a:ext>
            </a:extLst>
          </p:cNvPr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D4E866C8-CBB6-BAEF-234A-34801AD8FF99}"/>
              </a:ext>
            </a:extLst>
          </p:cNvPr>
          <p:cNvSpPr/>
          <p:nvPr/>
        </p:nvSpPr>
        <p:spPr>
          <a:xfrm>
            <a:off x="0" y="64008"/>
            <a:ext cx="64008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B1B2B1B4-423B-7952-31BA-FD8CF45DEC42}"/>
              </a:ext>
            </a:extLst>
          </p:cNvPr>
          <p:cNvSpPr/>
          <p:nvPr/>
        </p:nvSpPr>
        <p:spPr>
          <a:xfrm>
            <a:off x="64008" y="73150"/>
            <a:ext cx="9079992" cy="393194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 anchor="t"/>
          <a:lstStyle/>
          <a:p>
            <a:r>
              <a:rPr lang="en-IN" sz="2200" b="1" dirty="0">
                <a:solidFill>
                  <a:schemeClr val="bg1"/>
                </a:solidFill>
              </a:rPr>
              <a:t>07  |  </a:t>
            </a:r>
            <a:r>
              <a:rPr lang="en-IN" sz="2200" dirty="0">
                <a:solidFill>
                  <a:schemeClr val="bg1"/>
                </a:solidFill>
              </a:rPr>
              <a:t>Key Features &amp; Highlights</a:t>
            </a:r>
            <a:endParaRPr lang="en-IN" sz="22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5049AD-8E39-69AF-0E0A-86874E1A818C}"/>
              </a:ext>
            </a:extLst>
          </p:cNvPr>
          <p:cNvSpPr txBox="1"/>
          <p:nvPr/>
        </p:nvSpPr>
        <p:spPr>
          <a:xfrm>
            <a:off x="64008" y="529218"/>
            <a:ext cx="4161826" cy="4016484"/>
          </a:xfrm>
          <a:prstGeom prst="rect">
            <a:avLst/>
          </a:prstGeom>
          <a:solidFill>
            <a:srgbClr val="1B2E45"/>
          </a:solidFill>
        </p:spPr>
        <p:txBody>
          <a:bodyPr wrap="square">
            <a:spAutoFit/>
          </a:bodyPr>
          <a:lstStyle/>
          <a:p>
            <a:r>
              <a:rPr lang="en-IN" sz="1700" dirty="0">
                <a:solidFill>
                  <a:srgbClr val="FFC000"/>
                </a:solidFill>
              </a:rPr>
              <a:t>• Interactive Power BI Dashboard Integration</a:t>
            </a:r>
          </a:p>
          <a:p>
            <a:r>
              <a:rPr lang="en-IN" sz="1700" dirty="0">
                <a:solidFill>
                  <a:srgbClr val="FFC000"/>
                </a:solidFill>
              </a:rPr>
              <a:t>  </a:t>
            </a:r>
          </a:p>
          <a:p>
            <a:r>
              <a:rPr lang="en-IN" sz="1700" dirty="0">
                <a:solidFill>
                  <a:srgbClr val="FFC000"/>
                </a:solidFill>
              </a:rPr>
              <a:t>• Country Comparison Tool</a:t>
            </a:r>
          </a:p>
          <a:p>
            <a:r>
              <a:rPr lang="en-IN" sz="1700" dirty="0">
                <a:solidFill>
                  <a:srgbClr val="FFC000"/>
                </a:solidFill>
              </a:rPr>
              <a:t>  </a:t>
            </a:r>
          </a:p>
          <a:p>
            <a:r>
              <a:rPr lang="en-IN" sz="1700" dirty="0">
                <a:solidFill>
                  <a:srgbClr val="FFC000"/>
                </a:solidFill>
              </a:rPr>
              <a:t>• Secure Authentication  </a:t>
            </a:r>
          </a:p>
          <a:p>
            <a:endParaRPr lang="en-IN" sz="1700" dirty="0">
              <a:solidFill>
                <a:srgbClr val="FFC000"/>
              </a:solidFill>
            </a:endParaRPr>
          </a:p>
          <a:p>
            <a:r>
              <a:rPr lang="en-IN" sz="1700" dirty="0">
                <a:solidFill>
                  <a:srgbClr val="FFC000"/>
                </a:solidFill>
              </a:rPr>
              <a:t>• Admin Dashboard with User Management</a:t>
            </a:r>
          </a:p>
          <a:p>
            <a:r>
              <a:rPr lang="en-IN" sz="1700" dirty="0">
                <a:solidFill>
                  <a:srgbClr val="FFC000"/>
                </a:solidFill>
              </a:rPr>
              <a:t>  </a:t>
            </a:r>
          </a:p>
          <a:p>
            <a:r>
              <a:rPr lang="en-IN" sz="1700" dirty="0">
                <a:solidFill>
                  <a:srgbClr val="FFC000"/>
                </a:solidFill>
              </a:rPr>
              <a:t>• Real-time Data Filtering &amp; Analysis </a:t>
            </a:r>
          </a:p>
          <a:p>
            <a:r>
              <a:rPr lang="en-IN" sz="1700" dirty="0">
                <a:solidFill>
                  <a:srgbClr val="FFC000"/>
                </a:solidFill>
              </a:rPr>
              <a:t> </a:t>
            </a:r>
          </a:p>
          <a:p>
            <a:r>
              <a:rPr lang="en-IN" sz="1700" dirty="0">
                <a:solidFill>
                  <a:srgbClr val="FFC000"/>
                </a:solidFill>
              </a:rPr>
              <a:t>• Data Export (Excel Reports) </a:t>
            </a:r>
          </a:p>
          <a:p>
            <a:r>
              <a:rPr lang="en-IN" sz="1700" dirty="0">
                <a:solidFill>
                  <a:srgbClr val="FFC000"/>
                </a:solidFill>
              </a:rPr>
              <a:t> </a:t>
            </a:r>
          </a:p>
          <a:p>
            <a:r>
              <a:rPr lang="en-IN" sz="1700" dirty="0">
                <a:solidFill>
                  <a:srgbClr val="FFC000"/>
                </a:solidFill>
              </a:rPr>
              <a:t>• Global Inequality Insights &amp; KPIs  </a:t>
            </a:r>
          </a:p>
          <a:p>
            <a:endParaRPr lang="en-IN" sz="1700" dirty="0">
              <a:solidFill>
                <a:srgbClr val="FFC000"/>
              </a:solidFill>
            </a:endParaRPr>
          </a:p>
          <a:p>
            <a:r>
              <a:rPr lang="en-IN" sz="1700" dirty="0">
                <a:solidFill>
                  <a:srgbClr val="FFC000"/>
                </a:solidFill>
              </a:rPr>
              <a:t>• Responsive Full-Stack Web Application </a:t>
            </a:r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BEBE35C3-29F0-3520-10AA-3EDFFBDE4BD7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B95466-47AB-37BF-FFFB-9C23A01E5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146" y="529218"/>
            <a:ext cx="4707854" cy="20425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ACF70C-45FA-989A-E2F3-984E46CA9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6146" y="2632338"/>
            <a:ext cx="4707854" cy="191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93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Challenges Faced &amp; Solutions Implemented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3931920" cy="658368"/>
          </a:xfrm>
          <a:prstGeom prst="rect">
            <a:avLst/>
          </a:prstGeom>
          <a:solidFill>
            <a:srgbClr val="1B2E45"/>
          </a:solidFill>
          <a:ln w="19050">
            <a:solidFill>
              <a:srgbClr val="EF476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960120"/>
            <a:ext cx="54864" cy="6583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" y="1014984"/>
            <a:ext cx="3730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&amp; Inconsistent Data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224528" y="11247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76F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54864" cy="6583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09744" y="960120"/>
            <a:ext cx="4105656" cy="658368"/>
          </a:xfrm>
          <a:prstGeom prst="rect">
            <a:avLst/>
          </a:prstGeom>
          <a:solidFill>
            <a:srgbClr val="1B2E45"/>
          </a:solidFill>
          <a:ln>
            <a:solidFill>
              <a:srgbClr val="FF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linear interpolation for sparse yearly data and used country-level averages for non-interpolable gaps; standardized all column names and formats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28600" y="1719072"/>
            <a:ext cx="3931920" cy="658368"/>
          </a:xfrm>
          <a:prstGeom prst="rect">
            <a:avLst/>
          </a:prstGeom>
          <a:solidFill>
            <a:srgbClr val="1B2E45"/>
          </a:solidFill>
          <a:ln w="19050">
            <a:solidFill>
              <a:srgbClr val="F9C74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8600" y="1719072"/>
            <a:ext cx="54864" cy="65836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1773936"/>
            <a:ext cx="3730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Meaningful Composite KPIs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224528" y="18836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C74F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171907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0" y="1719072"/>
            <a:ext cx="54864" cy="65836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09744" y="1719072"/>
            <a:ext cx="4096512" cy="658368"/>
          </a:xfrm>
          <a:prstGeom prst="rect">
            <a:avLst/>
          </a:prstGeom>
          <a:solidFill>
            <a:srgbClr val="1B2E45"/>
          </a:solidFill>
          <a:ln>
            <a:solidFill>
              <a:srgbClr val="FFC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DAX documentation to build multi-variable measures like Inequality Severity Index (combining Gini + Top/Bottom 10% shares) and Inclusive Development Score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28600" y="2478024"/>
            <a:ext cx="3931920" cy="658368"/>
          </a:xfrm>
          <a:prstGeom prst="rect">
            <a:avLst/>
          </a:prstGeom>
          <a:solidFill>
            <a:srgbClr val="1B2E45"/>
          </a:solidFill>
          <a:ln w="19050">
            <a:solidFill>
              <a:srgbClr val="7B2D8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28600" y="2478024"/>
            <a:ext cx="54864" cy="65836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2532888"/>
            <a:ext cx="3730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Power BI in React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224528" y="26426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2D8B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754880" y="2478024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2478024"/>
            <a:ext cx="54864" cy="65836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09744" y="2478024"/>
            <a:ext cx="4105656" cy="658368"/>
          </a:xfrm>
          <a:prstGeom prst="rect">
            <a:avLst/>
          </a:prstGeom>
          <a:solidFill>
            <a:srgbClr val="1B2E45"/>
          </a:solidFill>
          <a:ln>
            <a:solidFill>
              <a:srgbClr val="7030A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responsive iframe embed of the published Power BI report URL, integrated directly into React Router's /dashboard component with CSS adjustments for fullscreen display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28600" y="3236976"/>
            <a:ext cx="3931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28600" y="3236976"/>
            <a:ext cx="54864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83464" y="3236976"/>
            <a:ext cx="3867912" cy="658368"/>
          </a:xfrm>
          <a:prstGeom prst="rect">
            <a:avLst/>
          </a:prstGeom>
          <a:solidFill>
            <a:srgbClr val="1B2E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Secure Authentication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4224528" y="34015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7B6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754880" y="3236976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54880" y="3236976"/>
            <a:ext cx="54864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09744" y="3236976"/>
            <a:ext cx="4105656" cy="658368"/>
          </a:xfrm>
          <a:prstGeom prst="rect">
            <a:avLst/>
          </a:prstGeom>
          <a:solidFill>
            <a:srgbClr val="1B2E45"/>
          </a:solidFill>
          <a:ln>
            <a:solidFill>
              <a:srgbClr val="0070C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bcrypt password hashing on registration; configured JWT token generation on login, stored in localStorage; created &lt;ProtectedRoute&gt; HOC to guard private pages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28600" y="3995928"/>
            <a:ext cx="3931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28600" y="3995928"/>
            <a:ext cx="54864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83464" y="3995928"/>
            <a:ext cx="3867912" cy="658368"/>
          </a:xfrm>
          <a:prstGeom prst="rect">
            <a:avLst/>
          </a:prstGeom>
          <a:solidFill>
            <a:srgbClr val="1B2E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Frontend–Backend Communication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4224528" y="4160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754880" y="399592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54880" y="3995928"/>
            <a:ext cx="54864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09744" y="3995928"/>
            <a:ext cx="4096512" cy="658368"/>
          </a:xfrm>
          <a:prstGeom prst="rect">
            <a:avLst/>
          </a:prstGeom>
          <a:solidFill>
            <a:srgbClr val="1B2E45"/>
          </a:solidFill>
          <a:ln>
            <a:solidFill>
              <a:srgbClr val="00B0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Abstracted all API URLs into .env config files; configured CORS middleware on Express to allow Vercel's frontend domain; debugged request/response headers systematically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228600" y="78638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850" dirty="0">
              <a:solidFill>
                <a:srgbClr val="FFFF00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4754880" y="786384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850" dirty="0">
              <a:solidFill>
                <a:srgbClr val="FFFF00"/>
              </a:solidFill>
            </a:endParaRPr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2DC6BF4C-DAD7-5A9A-9AC1-07E3111E7FE7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46" name="Shape 0">
            <a:extLst>
              <a:ext uri="{FF2B5EF4-FFF2-40B4-BE49-F238E27FC236}">
                <a16:creationId xmlns:a16="http://schemas.microsoft.com/office/drawing/2014/main" id="{2ACDD544-67E4-7CB9-AFEC-6B30E4D2BE81}"/>
              </a:ext>
            </a:extLst>
          </p:cNvPr>
          <p:cNvSpPr/>
          <p:nvPr/>
        </p:nvSpPr>
        <p:spPr>
          <a:xfrm>
            <a:off x="0" y="-11093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Project Outcomes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201168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960120"/>
            <a:ext cx="2011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1024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" y="14356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8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423160" y="960120"/>
            <a:ext cx="201168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423160" y="960120"/>
            <a:ext cx="2011680" cy="5486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514600" y="1024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68880" y="14356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8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201168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17720" y="960120"/>
            <a:ext cx="20116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09160" y="1024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63440" y="1536192"/>
            <a:ext cx="1920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8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12280" y="960120"/>
            <a:ext cx="201168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12280" y="960120"/>
            <a:ext cx="201168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03720" y="1024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58000" y="14356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Sheet Fields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28600" y="2011680"/>
            <a:ext cx="4206240" cy="12801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28600" y="2011680"/>
            <a:ext cx="54864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20848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Analytics Outcome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2432304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merged master sheet from World Bank 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composite DAX measures &amp; 7 calculated columns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categorized by inequality level and economic performance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011680"/>
            <a:ext cx="4206240" cy="12801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09160" y="2011680"/>
            <a:ext cx="54864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46320" y="20848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Dashboard Outcome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2432304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4-section interactive Power BI dashboard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cross-filtering across all visuals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and embedded in live web application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429000"/>
            <a:ext cx="4206240" cy="12801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28600" y="3429000"/>
            <a:ext cx="54864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65760" y="35021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Application Outcome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3849624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full-stack Html , CSS , </a:t>
            </a:r>
            <a:r>
              <a:rPr lang="en-US" sz="900" dirty="0" err="1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Python , SQL Lite Portal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authentication &amp; admin portal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analytics, user management, data exports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429000"/>
            <a:ext cx="4206240" cy="12801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09160" y="3429000"/>
            <a:ext cx="54864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46320" y="35021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Learning Outcome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46320" y="3849624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DAX, Power BI, Html , CSS, </a:t>
            </a:r>
            <a:r>
              <a:rPr lang="en-US" sz="900" dirty="0" err="1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SQLite, Python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delivery from raw data to deployment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documentation, teamwork &amp; presentation skills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" y="109728"/>
            <a:ext cx="8805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" y="713231"/>
            <a:ext cx="9079992" cy="4571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 Analytics Dashboard and Web Portal for Global Income Distribution successfully merges complex socioeconomic data with a high-performance, accessible web interface. By transforming raw World Bank datasets into interactive Power BI visuals and embedding them within a secure full-stack application, the project delivers a premium research tool for analysts, students, and policymakers worldwide.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450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8529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46120" y="2450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28529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322575"/>
            <a:ext cx="2743200" cy="146304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2920" y="2268050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23500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Potential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" y="272491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ready for additional datasets, ML-based predictions, and expanded global coverage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39776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Infosys Springboard Virtual Internship 6.0 — Completed Successfully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13  |  March 2026  |  </a:t>
            </a:r>
            <a:r>
              <a:rPr lang="en-US" sz="900" b="1" i="1" dirty="0">
                <a:solidFill>
                  <a:schemeClr val="accent5"/>
                </a:solidFill>
                <a:ea typeface="Aptos"/>
                <a:cs typeface="Times New Roman" panose="02020603050405020304" pitchFamily="18" charset="0"/>
              </a:rPr>
              <a:t>https://onkarvyawahare04.pythonanywhere.com</a:t>
            </a:r>
            <a:endParaRPr lang="en-US" sz="900" b="1" dirty="0">
              <a:solidFill>
                <a:schemeClr val="accent5"/>
              </a:solidFill>
            </a:endParaRP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E0B2A3AB-3797-54F3-5522-CC33F739F38D}"/>
              </a:ext>
            </a:extLst>
          </p:cNvPr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69059D0E-37FB-F022-70D5-A3793C1E6A20}"/>
              </a:ext>
            </a:extLst>
          </p:cNvPr>
          <p:cNvSpPr/>
          <p:nvPr/>
        </p:nvSpPr>
        <p:spPr>
          <a:xfrm>
            <a:off x="64008" y="73150"/>
            <a:ext cx="9079992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 anchor="ctr"/>
          <a:lstStyle/>
          <a:p>
            <a:r>
              <a:rPr lang="en-IN" sz="2200" b="1" dirty="0">
                <a:solidFill>
                  <a:schemeClr val="bg1"/>
                </a:solidFill>
              </a:rPr>
              <a:t> 10  |  Conclusion</a:t>
            </a:r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706D1E85-D949-44E7-FFFB-A3747A293940}"/>
              </a:ext>
            </a:extLst>
          </p:cNvPr>
          <p:cNvSpPr/>
          <p:nvPr/>
        </p:nvSpPr>
        <p:spPr>
          <a:xfrm>
            <a:off x="0" y="73152"/>
            <a:ext cx="137160" cy="5001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6D623073-856E-9C53-CB47-E748392D6918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D1AA441C-6202-71C4-FF64-F25A475C8420}"/>
              </a:ext>
            </a:extLst>
          </p:cNvPr>
          <p:cNvSpPr/>
          <p:nvPr/>
        </p:nvSpPr>
        <p:spPr>
          <a:xfrm>
            <a:off x="0" y="73152"/>
            <a:ext cx="137160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60EABC8C-8DB3-81ED-2B35-FDD926528561}"/>
              </a:ext>
            </a:extLst>
          </p:cNvPr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4E218F-46A9-BCA0-7A19-C2621F08C737}"/>
              </a:ext>
            </a:extLst>
          </p:cNvPr>
          <p:cNvSpPr txBox="1"/>
          <p:nvPr/>
        </p:nvSpPr>
        <p:spPr>
          <a:xfrm>
            <a:off x="3252651" y="1846435"/>
            <a:ext cx="22468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FFFF00"/>
                </a:solidFill>
              </a:rPr>
              <a:t>Thank You!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441631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1319</Words>
  <Application>Microsoft Office PowerPoint</Application>
  <PresentationFormat>On-screen Show (16:9)</PresentationFormat>
  <Paragraphs>234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Analytics Dashboard for Global Income Distribution</dc:title>
  <dc:subject>PptxGenJS Presentation</dc:subject>
  <dc:creator>PptxGenJS</dc:creator>
  <cp:lastModifiedBy>Onkar Vyawahare</cp:lastModifiedBy>
  <cp:revision>73</cp:revision>
  <dcterms:created xsi:type="dcterms:W3CDTF">2026-03-20T11:53:01Z</dcterms:created>
  <dcterms:modified xsi:type="dcterms:W3CDTF">2026-03-31T09:17:41Z</dcterms:modified>
</cp:coreProperties>
</file>