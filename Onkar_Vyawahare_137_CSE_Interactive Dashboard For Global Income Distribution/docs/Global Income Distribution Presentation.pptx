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9" r:id="rId4"/>
    <p:sldId id="260" r:id="rId5"/>
    <p:sldId id="261" r:id="rId6"/>
    <p:sldId id="262" r:id="rId7"/>
    <p:sldId id="258" r:id="rId8"/>
    <p:sldId id="267" r:id="rId9"/>
    <p:sldId id="263" r:id="rId10"/>
    <p:sldId id="264" r:id="rId11"/>
    <p:sldId id="265" r:id="rId12"/>
    <p:sldId id="266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B2E45"/>
    <a:srgbClr val="EF476F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35" d="100"/>
          <a:sy n="135" d="100"/>
        </p:scale>
        <p:origin x="92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676202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28C4D9-F2C0-71C4-45FD-43765B8F87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5B2288-FBDA-2E6C-10B3-0A7044C69B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A2C044-743D-F3D2-6042-58A118F6EB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9FE975-8084-DC36-E9FA-BBC26CCCBCF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09913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lobal-income-distribution.vercel.app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54102"/>
            <a:ext cx="9144000" cy="5001768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0" y="54102"/>
            <a:ext cx="137160" cy="50017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20040" y="1005840"/>
            <a:ext cx="8595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Analytics Dashboard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320040" y="1737360"/>
            <a:ext cx="8595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Global Income Distribution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3200400" y="2606040"/>
            <a:ext cx="2743200" cy="36576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20040" y="274320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 |  Virtual Internship 6.0  |  Batch 13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20040" y="320040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Presentation Team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54380" y="3794760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0077B6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54380" y="379476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308860" y="3794760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0077B6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308860" y="379476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Node.js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863340" y="3794760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0077B6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863340" y="379476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17820" y="3794760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0077B6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417820" y="379476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Data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972300" y="3794760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0077B6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972300" y="3794760"/>
            <a:ext cx="1417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+ Render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0040" y="434340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Live:</a:t>
            </a: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000" b="1" i="1" dirty="0">
                <a:solidFill>
                  <a:srgbClr val="467886"/>
                </a:solidFill>
                <a:effectLst/>
                <a:ea typeface="Aptos"/>
                <a:cs typeface="Times New Roman" panose="02020603050405020304" pitchFamily="18" charset="0"/>
                <a:hlinkClick r:id="rId3"/>
              </a:rPr>
              <a:t>https://global-income-distribution.vercel.app</a:t>
            </a:r>
            <a:endParaRPr lang="en-US" sz="1000" b="1" i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4008"/>
            <a:ext cx="9144000" cy="68580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64008"/>
            <a:ext cx="64008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82880" y="82296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|  Project Overview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82880" y="4937760"/>
            <a:ext cx="877824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 |  Interactive Analytics Dashboard – Global Income Distribution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228600" y="914400"/>
            <a:ext cx="5029200" cy="3840480"/>
          </a:xfrm>
          <a:prstGeom prst="rect">
            <a:avLst/>
          </a:prstGeom>
          <a:solidFill>
            <a:srgbClr val="1B2E4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 dirty="0"/>
          </a:p>
        </p:txBody>
      </p:sp>
      <p:sp>
        <p:nvSpPr>
          <p:cNvPr id="9" name="Text 7"/>
          <p:cNvSpPr/>
          <p:nvPr/>
        </p:nvSpPr>
        <p:spPr>
          <a:xfrm>
            <a:off x="365760" y="100584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Project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417320"/>
            <a:ext cx="47548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research-grade full-stack web application developed during the Infosys Springboard Virtual Internship 6.0 (8 weeks).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analyzes and visualizes global income inequality, transforming raw World Bank data into interactive, actionable insights for researchers, students, and policymakers.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combines advanced data analytics with a modern full-stack web portal accessible to the public.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3474720"/>
            <a:ext cx="4663440" cy="3657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65760" y="3547872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8 Weeks  |  Start: 03 Feb 2026  |  Submission: 20 Mar 2026</a:t>
            </a:r>
            <a:endParaRPr lang="en-US" sz="950" b="1" i="1" dirty="0">
              <a:solidFill>
                <a:schemeClr val="bg1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5532120" y="914400"/>
            <a:ext cx="3337560" cy="822960"/>
          </a:xfrm>
          <a:prstGeom prst="rect">
            <a:avLst/>
          </a:prstGeom>
          <a:solidFill>
            <a:srgbClr val="1B2E4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5532120" y="914400"/>
            <a:ext cx="54864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669280" y="96012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Data Analytics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669280" y="130759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&amp; transform World Bank datasets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532120" y="1874520"/>
            <a:ext cx="3337560" cy="822960"/>
          </a:xfrm>
          <a:prstGeom prst="rect">
            <a:avLst/>
          </a:prstGeom>
          <a:solidFill>
            <a:srgbClr val="1B2E4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5532120" y="1874520"/>
            <a:ext cx="54864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5669280" y="192024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Dashboard Development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669280" y="226771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Power BI analytical dashboard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532120" y="2834640"/>
            <a:ext cx="3337560" cy="822960"/>
          </a:xfrm>
          <a:prstGeom prst="rect">
            <a:avLst/>
          </a:prstGeom>
          <a:solidFill>
            <a:srgbClr val="1B2E4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5532120" y="2834640"/>
            <a:ext cx="54864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5669280" y="288036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Web Application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669280" y="322783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React + Node.js web portal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532120" y="3794760"/>
            <a:ext cx="3337560" cy="822960"/>
          </a:xfrm>
          <a:prstGeom prst="rect">
            <a:avLst/>
          </a:prstGeom>
          <a:solidFill>
            <a:srgbClr val="1B2E4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5532120" y="3794760"/>
            <a:ext cx="54864" cy="8229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5669280" y="384048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 Secure Admin Portal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69280" y="4187952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auth, user management &amp; telemetry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0" y="64008"/>
            <a:ext cx="9144000" cy="68580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0" y="64008"/>
            <a:ext cx="64008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182880" y="82296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2200" b="1" dirty="0">
                <a:solidFill>
                  <a:schemeClr val="bg1"/>
                </a:solidFill>
              </a:rPr>
              <a:t>02  |  </a:t>
            </a:r>
            <a:r>
              <a:rPr sz="2200" b="1" dirty="0">
                <a:solidFill>
                  <a:schemeClr val="bg1"/>
                </a:solidFill>
              </a:rPr>
              <a:t>Project </a:t>
            </a:r>
            <a:r>
              <a:rPr lang="en-IN" sz="2200" b="1" dirty="0">
                <a:solidFill>
                  <a:schemeClr val="bg1"/>
                </a:solidFill>
              </a:rPr>
              <a:t> </a:t>
            </a:r>
            <a:r>
              <a:rPr sz="2200" b="1" dirty="0">
                <a:solidFill>
                  <a:schemeClr val="bg1"/>
                </a:solidFill>
              </a:rPr>
              <a:t>Workflow</a:t>
            </a:r>
          </a:p>
        </p:txBody>
      </p:sp>
      <p:sp>
        <p:nvSpPr>
          <p:cNvPr id="7" name="Text 5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658368" y="2971800"/>
            <a:ext cx="7827264" cy="457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548640" y="2743200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54864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28600" y="1371600"/>
            <a:ext cx="1325880" cy="1325880"/>
          </a:xfrm>
          <a:prstGeom prst="rect">
            <a:avLst/>
          </a:prstGeom>
          <a:solidFill>
            <a:srgbClr val="1B2E4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228600" y="1371600"/>
            <a:ext cx="13258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 sz="1000" b="1" dirty="0"/>
          </a:p>
        </p:txBody>
      </p:sp>
      <p:sp>
        <p:nvSpPr>
          <p:cNvPr id="13" name="Text 11"/>
          <p:cNvSpPr/>
          <p:nvPr/>
        </p:nvSpPr>
        <p:spPr>
          <a:xfrm>
            <a:off x="283464" y="1463040"/>
            <a:ext cx="1216152" cy="365760"/>
          </a:xfrm>
          <a:prstGeom prst="rect">
            <a:avLst/>
          </a:prstGeom>
          <a:noFill/>
          <a:ln/>
        </p:spPr>
        <p:txBody>
          <a:bodyPr wrap="square" t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283464" y="1783080"/>
            <a:ext cx="12161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Collected Gini Index, GDP per capita, Median Income &amp; income share datasets from World Bank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28600" y="329184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1–2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011680" y="2743200"/>
            <a:ext cx="457200" cy="457200"/>
          </a:xfrm>
          <a:prstGeom prst="ellipse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01168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691640" y="1371600"/>
            <a:ext cx="1325880" cy="1325880"/>
          </a:xfrm>
          <a:prstGeom prst="rect">
            <a:avLst/>
          </a:prstGeom>
          <a:solidFill>
            <a:srgbClr val="1B2E4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1691640" y="1371600"/>
            <a:ext cx="1325880" cy="54864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  <p:txBody>
          <a:bodyPr/>
          <a:lstStyle/>
          <a:p>
            <a:endParaRPr lang="en-IN" sz="1000" b="1" dirty="0"/>
          </a:p>
        </p:txBody>
      </p:sp>
      <p:sp>
        <p:nvSpPr>
          <p:cNvPr id="20" name="Text 18"/>
          <p:cNvSpPr/>
          <p:nvPr/>
        </p:nvSpPr>
        <p:spPr>
          <a:xfrm>
            <a:off x="1746504" y="1463040"/>
            <a:ext cx="1216152" cy="365760"/>
          </a:xfrm>
          <a:prstGeom prst="rect">
            <a:avLst/>
          </a:prstGeom>
          <a:noFill/>
          <a:ln/>
        </p:spPr>
        <p:txBody>
          <a:bodyPr wrap="square" t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746504" y="1783080"/>
            <a:ext cx="12161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columns, standardized names, handled missing values (interpolation), converted formats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691640" y="329184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2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474720" y="2743200"/>
            <a:ext cx="457200" cy="45720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47472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154680" y="1371600"/>
            <a:ext cx="1325880" cy="1325880"/>
          </a:xfrm>
          <a:prstGeom prst="rect">
            <a:avLst/>
          </a:prstGeom>
          <a:solidFill>
            <a:srgbClr val="1B2E4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154680" y="1371600"/>
            <a:ext cx="132588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 sz="1000" b="1" dirty="0"/>
          </a:p>
        </p:txBody>
      </p:sp>
      <p:sp>
        <p:nvSpPr>
          <p:cNvPr id="27" name="Text 25"/>
          <p:cNvSpPr/>
          <p:nvPr/>
        </p:nvSpPr>
        <p:spPr>
          <a:xfrm>
            <a:off x="3209544" y="1463040"/>
            <a:ext cx="1216152" cy="365760"/>
          </a:xfrm>
          <a:prstGeom prst="rect">
            <a:avLst/>
          </a:prstGeom>
          <a:noFill/>
          <a:ln/>
        </p:spPr>
        <p:txBody>
          <a:bodyPr wrap="square" t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Transformation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209544" y="1783080"/>
            <a:ext cx="12161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to long format, merged into single master sheet, imported to Power BI for validation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154680" y="329184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937760" y="2743200"/>
            <a:ext cx="457200" cy="4572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93776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617720" y="1371600"/>
            <a:ext cx="1325880" cy="1325880"/>
          </a:xfrm>
          <a:prstGeom prst="rect">
            <a:avLst/>
          </a:prstGeom>
          <a:solidFill>
            <a:srgbClr val="1B2E4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617720" y="1371600"/>
            <a:ext cx="1325880" cy="5486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 sz="1000" b="1" dirty="0"/>
          </a:p>
        </p:txBody>
      </p:sp>
      <p:sp>
        <p:nvSpPr>
          <p:cNvPr id="34" name="Text 32"/>
          <p:cNvSpPr/>
          <p:nvPr/>
        </p:nvSpPr>
        <p:spPr>
          <a:xfrm>
            <a:off x="4672584" y="1463040"/>
            <a:ext cx="1216152" cy="365760"/>
          </a:xfrm>
          <a:prstGeom prst="rect">
            <a:avLst/>
          </a:prstGeom>
          <a:noFill/>
          <a:ln/>
        </p:spPr>
        <p:txBody>
          <a:bodyPr wrap="square" t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Development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672584" y="1783080"/>
            <a:ext cx="12161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7 DAX measures, 2 calculated columns, built 5-section interactive Power BI dashboard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617720" y="329184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3–4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400800" y="2743200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640080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080760" y="1371600"/>
            <a:ext cx="1325880" cy="1325880"/>
          </a:xfrm>
          <a:prstGeom prst="rect">
            <a:avLst/>
          </a:prstGeom>
          <a:solidFill>
            <a:srgbClr val="1B2E4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6071616" y="1371600"/>
            <a:ext cx="1325880" cy="54864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6135624" y="1463040"/>
            <a:ext cx="1216152" cy="365760"/>
          </a:xfrm>
          <a:prstGeom prst="rect">
            <a:avLst/>
          </a:prstGeom>
          <a:noFill/>
          <a:ln/>
        </p:spPr>
        <p:txBody>
          <a:bodyPr wrap="square" t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Development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6135624" y="1783080"/>
            <a:ext cx="12161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React frontend + Node.js/Express backend with JWT auth, SQLite DB, and Power BI embed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080760" y="329184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5–7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44" name="Shape 42"/>
          <p:cNvSpPr/>
          <p:nvPr/>
        </p:nvSpPr>
        <p:spPr>
          <a:xfrm>
            <a:off x="7863840" y="2743200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7863840" y="27432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7543800" y="1371600"/>
            <a:ext cx="1325880" cy="1325880"/>
          </a:xfrm>
          <a:prstGeom prst="rect">
            <a:avLst/>
          </a:prstGeom>
          <a:solidFill>
            <a:srgbClr val="1B2E4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7543800" y="1371600"/>
            <a:ext cx="13258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7598664" y="1463040"/>
            <a:ext cx="1216152" cy="365760"/>
          </a:xfrm>
          <a:prstGeom prst="rect">
            <a:avLst/>
          </a:prstGeom>
          <a:noFill/>
          <a:ln/>
        </p:spPr>
        <p:txBody>
          <a:bodyPr wrap="square" t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7598664" y="1783080"/>
            <a:ext cx="121615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frontend on Vercel and backend on Render; GitHub CI/CD integration, Admin Portal live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7543800" y="3291840"/>
            <a:ext cx="1325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 8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60846730-3375-46E7-4616-9A50BF0B43AB}"/>
              </a:ext>
            </a:extLst>
          </p:cNvPr>
          <p:cNvSpPr/>
          <p:nvPr/>
        </p:nvSpPr>
        <p:spPr>
          <a:xfrm>
            <a:off x="0" y="4931983"/>
            <a:ext cx="9144000" cy="210312"/>
          </a:xfrm>
          <a:prstGeom prst="rect">
            <a:avLst/>
          </a:prstGeom>
          <a:solidFill>
            <a:srgbClr val="1B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Infosys Springboard  |  Interactive Analytics Dashboard – Global Income Distribution </a:t>
            </a:r>
            <a:endParaRPr lang="en-US" sz="8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228600" y="920921"/>
            <a:ext cx="4146804" cy="3840480"/>
          </a:xfrm>
          <a:prstGeom prst="rect">
            <a:avLst/>
          </a:prstGeom>
          <a:solidFill>
            <a:srgbClr val="1B2E45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28600" y="914400"/>
            <a:ext cx="4114800" cy="34747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20040" y="9144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Preparation Steps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" y="1362456"/>
            <a:ext cx="274320" cy="27432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20040" y="13624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1.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58368" y="1325880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—</a:t>
            </a: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481328" y="13258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database – Gini Index, GDP per capita (constant &amp; current LCU/US$), Median Income, Income share by decile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20040" y="1911096"/>
            <a:ext cx="274320" cy="27432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20040" y="191109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2.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58368" y="1874520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Cleaning —</a:t>
            </a: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481328" y="187452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irrelevant columns, standardized field names, converted inconsistent formats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20040" y="2459736"/>
            <a:ext cx="274320" cy="27432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20040" y="245973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3.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58368" y="2423160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— </a:t>
            </a:r>
            <a:endParaRPr lang="en-US" sz="950" dirty="0">
              <a:solidFill>
                <a:srgbClr val="00B050"/>
              </a:solidFill>
            </a:endParaRPr>
          </a:p>
        </p:txBody>
      </p:sp>
      <p:sp>
        <p:nvSpPr>
          <p:cNvPr id="22" name="Text 20"/>
          <p:cNvSpPr/>
          <p:nvPr/>
        </p:nvSpPr>
        <p:spPr>
          <a:xfrm>
            <a:off x="1481328" y="242316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linear interpolation for sparse years; used country averages where interpolation not feasible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320040" y="3008376"/>
            <a:ext cx="274320" cy="27432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20040" y="300837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4.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58368" y="2971800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Format — </a:t>
            </a:r>
            <a:endParaRPr lang="en-US" sz="950" dirty="0">
              <a:solidFill>
                <a:srgbClr val="00B050"/>
              </a:solidFill>
            </a:endParaRPr>
          </a:p>
        </p:txBody>
      </p:sp>
      <p:sp>
        <p:nvSpPr>
          <p:cNvPr id="26" name="Text 24"/>
          <p:cNvSpPr/>
          <p:nvPr/>
        </p:nvSpPr>
        <p:spPr>
          <a:xfrm>
            <a:off x="1481328" y="297180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Converted all indicator files from wide to long format (Country × Year rows)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27" name="Shape 25"/>
          <p:cNvSpPr/>
          <p:nvPr/>
        </p:nvSpPr>
        <p:spPr>
          <a:xfrm>
            <a:off x="320040" y="3557016"/>
            <a:ext cx="274320" cy="27432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320040" y="355701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5.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658368" y="3520440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—</a:t>
            </a: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1481328" y="352044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Joined all datasets on Country + Year into a single unified master sheet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31" name="Shape 29"/>
          <p:cNvSpPr/>
          <p:nvPr/>
        </p:nvSpPr>
        <p:spPr>
          <a:xfrm>
            <a:off x="320040" y="4105656"/>
            <a:ext cx="274320" cy="274320"/>
          </a:xfrm>
          <a:prstGeom prst="ellipse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Text 30"/>
          <p:cNvSpPr/>
          <p:nvPr/>
        </p:nvSpPr>
        <p:spPr>
          <a:xfrm>
            <a:off x="320040" y="4105656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6.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658368" y="4069080"/>
            <a:ext cx="868680" cy="3474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0B0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—</a:t>
            </a:r>
            <a:r>
              <a:rPr lang="en-US" sz="9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481328" y="4069080"/>
            <a:ext cx="26974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8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numeric types, confirmed Year as integer, checked for blank/null values in Power BI</a:t>
            </a:r>
            <a:endParaRPr lang="en-US" sz="850" dirty="0">
              <a:solidFill>
                <a:schemeClr val="bg1"/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4572000" y="914400"/>
            <a:ext cx="4343400" cy="3840480"/>
          </a:xfrm>
          <a:prstGeom prst="rect">
            <a:avLst/>
          </a:prstGeom>
          <a:solidFill>
            <a:srgbClr val="1B2E45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4572000" y="914400"/>
            <a:ext cx="4343400" cy="347472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663440" y="914400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Columns in Master Sheet</a:t>
            </a:r>
            <a:endParaRPr lang="en-US" sz="120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8666416"/>
              </p:ext>
            </p:extLst>
          </p:nvPr>
        </p:nvGraphicFramePr>
        <p:xfrm>
          <a:off x="4663440" y="1325880"/>
          <a:ext cx="4160520" cy="3295739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00"/>
                          </a:solidFill>
                        </a:rPr>
                        <a:t>Column Name</a:t>
                      </a:r>
                      <a:endParaRPr lang="en-US" sz="1200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00"/>
                          </a:solidFill>
                        </a:rPr>
                        <a:t>Description</a:t>
                      </a:r>
                      <a:endParaRPr lang="en-US" sz="1200" dirty="0">
                        <a:solidFill>
                          <a:srgbClr val="FFFF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21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Countries</a:t>
                      </a:r>
                      <a:endParaRPr lang="en-US" sz="8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Country name</a:t>
                      </a:r>
                      <a:endParaRPr lang="en-US" sz="8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Years</a:t>
                      </a:r>
                      <a:endParaRPr lang="en-US" sz="8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year (2000–2024)</a:t>
                      </a:r>
                      <a:endParaRPr lang="en-US" sz="8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Gini_Index</a:t>
                      </a:r>
                      <a:endParaRPr lang="en-US" sz="8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 inequality coefficient</a:t>
                      </a:r>
                      <a:endParaRPr lang="en-US" sz="8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Median_Income</a:t>
                      </a:r>
                      <a:endParaRPr lang="en-US" sz="8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 household income</a:t>
                      </a:r>
                      <a:endParaRPr lang="en-US" sz="8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GDP_per_capita_Constant_LCU</a:t>
                      </a:r>
                      <a:endParaRPr lang="en-US" sz="8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GDP in local constant currency</a:t>
                      </a:r>
                      <a:endParaRPr lang="en-US" sz="8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GDP_per_capita_Current_LCU</a:t>
                      </a:r>
                      <a:endParaRPr lang="en-US" sz="8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GDP in local current currency</a:t>
                      </a:r>
                      <a:endParaRPr lang="en-US" sz="8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GDP_per_capita_Current_US$</a:t>
                      </a:r>
                      <a:endParaRPr lang="en-US" sz="8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GDP in current USD</a:t>
                      </a:r>
                      <a:endParaRPr lang="en-US" sz="8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Income_share_held_by_Top_10%</a:t>
                      </a:r>
                      <a:endParaRPr lang="en-US" sz="8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decile income share</a:t>
                      </a:r>
                      <a:endParaRPr lang="en-US" sz="8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Income_share_held_by_Top_20%</a:t>
                      </a:r>
                      <a:endParaRPr lang="en-US" sz="8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Top quintile income share</a:t>
                      </a:r>
                      <a:endParaRPr lang="en-US" sz="8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Income_share_held_by_Bottom_10%</a:t>
                      </a:r>
                      <a:endParaRPr lang="en-US" sz="8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Bottom decile income share</a:t>
                      </a:r>
                      <a:endParaRPr lang="en-US" sz="8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Income_share_held_by_Bottom_20%</a:t>
                      </a:r>
                      <a:endParaRPr lang="en-US" sz="8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50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Bottom quintile income share</a:t>
                      </a:r>
                      <a:endParaRPr lang="en-US" sz="850" dirty="0">
                        <a:solidFill>
                          <a:schemeClr val="bg1"/>
                        </a:solidFill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39" name="Rectangle 38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A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0" y="64008"/>
            <a:ext cx="9144000" cy="713232"/>
          </a:xfrm>
          <a:prstGeom prst="rect">
            <a:avLst/>
          </a:prstGeom>
          <a:solidFill>
            <a:srgbClr val="1B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0" y="64008"/>
            <a:ext cx="64008" cy="685800"/>
          </a:xfrm>
          <a:prstGeom prst="rect">
            <a:avLst/>
          </a:prstGeom>
          <a:solidFill>
            <a:srgbClr val="1B2E45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bg1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112876" y="194918"/>
            <a:ext cx="3870290" cy="43088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rPr lang="en-IN" sz="2200" dirty="0"/>
              <a:t>03  |  Master Sheet Preparation</a:t>
            </a:r>
            <a:endParaRPr sz="2200" dirty="0"/>
          </a:p>
        </p:txBody>
      </p:sp>
      <p:sp>
        <p:nvSpPr>
          <p:cNvPr id="44" name="Rectangle 43"/>
          <p:cNvSpPr/>
          <p:nvPr/>
        </p:nvSpPr>
        <p:spPr>
          <a:xfrm>
            <a:off x="0" y="4937760"/>
            <a:ext cx="9144000" cy="210312"/>
          </a:xfrm>
          <a:prstGeom prst="rect">
            <a:avLst/>
          </a:prstGeom>
          <a:solidFill>
            <a:srgbClr val="1B2E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82880" y="4937760"/>
            <a:ext cx="3760966" cy="2154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B4B4B4"/>
                </a:solidFill>
              </a:defRPr>
            </a:pPr>
            <a:r>
              <a:rPr sz="800" b="1" dirty="0">
                <a:solidFill>
                  <a:schemeClr val="bg1"/>
                </a:solidFill>
              </a:rPr>
              <a:t>Infosys Springboard  |  Interactive Analytics Dashboard – Global Income Distribution</a:t>
            </a:r>
          </a:p>
        </p:txBody>
      </p:sp>
      <p:sp>
        <p:nvSpPr>
          <p:cNvPr id="3" name="Shape 2">
            <a:extLst>
              <a:ext uri="{FF2B5EF4-FFF2-40B4-BE49-F238E27FC236}">
                <a16:creationId xmlns:a16="http://schemas.microsoft.com/office/drawing/2014/main" id="{ED177FE0-9115-05F1-718A-F90F25C5A339}"/>
              </a:ext>
            </a:extLst>
          </p:cNvPr>
          <p:cNvSpPr/>
          <p:nvPr/>
        </p:nvSpPr>
        <p:spPr>
          <a:xfrm>
            <a:off x="-7570" y="71072"/>
            <a:ext cx="64008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0">
            <a:extLst>
              <a:ext uri="{FF2B5EF4-FFF2-40B4-BE49-F238E27FC236}">
                <a16:creationId xmlns:a16="http://schemas.microsoft.com/office/drawing/2014/main" id="{C6B02378-1685-197C-20CC-319B65684D6D}"/>
              </a:ext>
            </a:extLst>
          </p:cNvPr>
          <p:cNvSpPr/>
          <p:nvPr/>
        </p:nvSpPr>
        <p:spPr>
          <a:xfrm>
            <a:off x="-5671" y="3532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4008"/>
            <a:ext cx="9144000" cy="68580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64008"/>
            <a:ext cx="64008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82880" y="82296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|  Dashboard Overview (Power BI)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82880" y="4937760"/>
            <a:ext cx="877824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 |  Interactive Analytics Dashboard – Global Income Distribution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228600" y="914400"/>
            <a:ext cx="2011680" cy="914400"/>
          </a:xfrm>
          <a:prstGeom prst="rect">
            <a:avLst/>
          </a:prstGeom>
          <a:solidFill>
            <a:srgbClr val="1B2E4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28600" y="914400"/>
            <a:ext cx="2011680" cy="54864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20040" y="10058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63.44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74320" y="138988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Inequality</a:t>
            </a:r>
            <a:endParaRPr lang="en-US" sz="800" b="1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Index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423160" y="914400"/>
            <a:ext cx="2011680" cy="914400"/>
          </a:xfrm>
          <a:prstGeom prst="rect">
            <a:avLst/>
          </a:prstGeom>
          <a:solidFill>
            <a:srgbClr val="1B2E4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423160" y="914400"/>
            <a:ext cx="2011680" cy="5486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514600" y="10058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8.33K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468880" y="138988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Inclusive Dev.</a:t>
            </a:r>
            <a:endParaRPr lang="en-US" sz="800" b="1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Momentum Score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617720" y="914400"/>
            <a:ext cx="2011680" cy="914400"/>
          </a:xfrm>
          <a:prstGeom prst="rect">
            <a:avLst/>
          </a:prstGeom>
          <a:solidFill>
            <a:srgbClr val="1B2E4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617720" y="914400"/>
            <a:ext cx="2011680" cy="54864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709160" y="10058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22.44K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663440" y="138988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 vs Median</a:t>
            </a:r>
            <a:endParaRPr lang="en-US" sz="800" b="1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Gap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812280" y="914400"/>
            <a:ext cx="2011680" cy="914400"/>
          </a:xfrm>
          <a:prstGeom prst="rect">
            <a:avLst/>
          </a:prstGeom>
          <a:solidFill>
            <a:srgbClr val="1B2E4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812280" y="914400"/>
            <a:ext cx="20116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903720" y="10058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11.25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858000" y="1389888"/>
            <a:ext cx="19202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</a:t>
            </a:r>
            <a:endParaRPr lang="en-US" sz="800" b="1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Concentration Ratio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28600" y="2011680"/>
            <a:ext cx="1600200" cy="2514600"/>
          </a:xfrm>
          <a:prstGeom prst="rect">
            <a:avLst/>
          </a:prstGeom>
          <a:solidFill>
            <a:srgbClr val="1B2E4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228600" y="2011680"/>
            <a:ext cx="16002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795528" y="2103120"/>
            <a:ext cx="457200" cy="45720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795528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1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01752" y="26517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01752" y="3182112"/>
            <a:ext cx="14630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dropdown + Year range slicer for cross-visual filtering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984248" y="2011680"/>
            <a:ext cx="1600200" cy="2514600"/>
          </a:xfrm>
          <a:prstGeom prst="rect">
            <a:avLst/>
          </a:prstGeom>
          <a:solidFill>
            <a:srgbClr val="1B2E4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1984248" y="2011680"/>
            <a:ext cx="1600200" cy="64008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2551176" y="2103120"/>
            <a:ext cx="457200" cy="457200"/>
          </a:xfrm>
          <a:prstGeom prst="ellipse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2551176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2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2057400" y="26517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KPI Summary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2057400" y="3182112"/>
            <a:ext cx="14630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composite KPI cards: Inequality Severity, Inclusive Dev. Score, GDP-Income Gap, Income Concentration Ratio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3739896" y="2011680"/>
            <a:ext cx="1600200" cy="2514600"/>
          </a:xfrm>
          <a:prstGeom prst="rect">
            <a:avLst/>
          </a:prstGeom>
          <a:solidFill>
            <a:srgbClr val="1B2E4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3739896" y="2011680"/>
            <a:ext cx="1600200" cy="6400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4306824" y="2103120"/>
            <a:ext cx="457200" cy="45720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306824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3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3813048" y="26517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Inequality Deep Analysis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3813048" y="3182112"/>
            <a:ext cx="14630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Most Unequal Countries (Bar Chart) + GDP vs Median Income Distribution (Scatter Plot)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5495544" y="2011680"/>
            <a:ext cx="1600200" cy="2514600"/>
          </a:xfrm>
          <a:prstGeom prst="rect">
            <a:avLst/>
          </a:prstGeom>
          <a:solidFill>
            <a:srgbClr val="1B2E4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5495544" y="2011680"/>
            <a:ext cx="1600200" cy="64008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6062472" y="2103120"/>
            <a:ext cx="457200" cy="45720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6062472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4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568696" y="26517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vs Social Balance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568696" y="3182112"/>
            <a:ext cx="14630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Gini Index YoY Trend (Line Chart) + Economic Growth Skewness (Column Chart)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7251192" y="2011680"/>
            <a:ext cx="1600200" cy="2514600"/>
          </a:xfrm>
          <a:prstGeom prst="rect">
            <a:avLst/>
          </a:prstGeom>
          <a:solidFill>
            <a:srgbClr val="1B2E4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7251192" y="2011680"/>
            <a:ext cx="1600200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7818120" y="2103120"/>
            <a:ext cx="457200" cy="45720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781812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</a:rPr>
              <a:t>5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7324344" y="26517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Inclusive Dev. Performance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7324344" y="3182112"/>
            <a:ext cx="14630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Scorecard (Matrix) + Strength Treemap + GDP/Median/Gini Combo Chart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4008"/>
            <a:ext cx="9144000" cy="685800"/>
          </a:xfrm>
          <a:prstGeom prst="rect">
            <a:avLst/>
          </a:prstGeom>
          <a:solidFill>
            <a:srgbClr val="1B2E45"/>
          </a:solidFill>
          <a:ln w="1270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64008"/>
            <a:ext cx="64008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82880" y="82296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|  Website Implementation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2880" y="4937760"/>
            <a:ext cx="877824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930986"/>
            <a:ext cx="2743200" cy="1996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28600" y="830091"/>
            <a:ext cx="2743200" cy="401443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20040" y="9144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Area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28600" y="1231536"/>
            <a:ext cx="2743200" cy="1695963"/>
          </a:xfrm>
          <a:prstGeom prst="rect">
            <a:avLst/>
          </a:prstGeom>
          <a:solidFill>
            <a:srgbClr val="1B2E45"/>
          </a:solidFill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Homepage with parallax animations</a:t>
            </a:r>
            <a:endParaRPr lang="en-US" sz="95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'About Inequality' — Gini Coefficient, Wealth Concentration explainers</a:t>
            </a:r>
            <a:endParaRPr lang="en-US" sz="95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'Visualizations Explained' — chart interpretation guides</a:t>
            </a:r>
            <a:endParaRPr lang="en-US" sz="95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 the Analyst form (routed to SQLite DB)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154680" y="914400"/>
            <a:ext cx="2743200" cy="201309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154680" y="830092"/>
            <a:ext cx="2743200" cy="401444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246120" y="830092"/>
            <a:ext cx="2560320" cy="414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Authenticated Area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154680" y="1231537"/>
            <a:ext cx="2743200" cy="1695962"/>
          </a:xfrm>
          <a:prstGeom prst="rect">
            <a:avLst/>
          </a:prstGeom>
          <a:solidFill>
            <a:srgbClr val="1B2E45"/>
          </a:solidFill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/ Log In with Email + Password (JWT-secured)</a:t>
            </a:r>
            <a:endParaRPr lang="en-US" sz="95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Power BI Dashboard via responsive iframe</a:t>
            </a:r>
            <a:endParaRPr lang="en-US" sz="95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Country Comparison Tool</a:t>
            </a:r>
            <a:endParaRPr lang="en-US" sz="95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Export &amp; Downloads (spreadsheets / reports)</a:t>
            </a:r>
            <a:endParaRPr lang="en-US" sz="95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Tracking — page views, login frequency, session duration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080760" y="914401"/>
            <a:ext cx="2743200" cy="201309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80760" y="830092"/>
            <a:ext cx="2743200" cy="384047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172200" y="91440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Portal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80760" y="1214139"/>
            <a:ext cx="2743200" cy="1713359"/>
          </a:xfrm>
          <a:prstGeom prst="rect">
            <a:avLst/>
          </a:prstGeom>
          <a:solidFill>
            <a:srgbClr val="1B2E45"/>
          </a:solidFill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Dashboard — total users, active sessions, query counts</a:t>
            </a:r>
            <a:endParaRPr lang="en-US" sz="95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 — suspend, kick, or ban users</a:t>
            </a:r>
            <a:endParaRPr lang="en-US" sz="95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Moderation Logs — audit trail of admin actions</a:t>
            </a:r>
            <a:endParaRPr lang="en-US" sz="95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Management — read, reply &amp; resolve contact form messages</a:t>
            </a:r>
            <a:endParaRPr lang="en-US" sz="950" dirty="0">
              <a:solidFill>
                <a:schemeClr val="bg1"/>
              </a:solidFill>
            </a:endParaRPr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9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Export — one-click SQLite database dump to Excel</a:t>
            </a:r>
            <a:endParaRPr lang="en-US" sz="950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B6409FD-AB5C-BF28-C898-C8C17AFBB934}"/>
              </a:ext>
            </a:extLst>
          </p:cNvPr>
          <p:cNvSpPr txBox="1"/>
          <p:nvPr/>
        </p:nvSpPr>
        <p:spPr>
          <a:xfrm>
            <a:off x="137160" y="3211768"/>
            <a:ext cx="2743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FF00"/>
                </a:solidFill>
              </a:rPr>
              <a:t>Hosting → </a:t>
            </a:r>
            <a:r>
              <a:rPr lang="en-IN" dirty="0" err="1">
                <a:solidFill>
                  <a:srgbClr val="FFFF00"/>
                </a:solidFill>
              </a:rPr>
              <a:t>Vercel</a:t>
            </a:r>
            <a:r>
              <a:rPr lang="en-IN" dirty="0">
                <a:solidFill>
                  <a:srgbClr val="FFFF00"/>
                </a:solidFill>
              </a:rPr>
              <a:t> + Render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B4A0C09-9538-907E-2F6F-92B9850EB274}"/>
              </a:ext>
            </a:extLst>
          </p:cNvPr>
          <p:cNvSpPr txBox="1"/>
          <p:nvPr/>
        </p:nvSpPr>
        <p:spPr>
          <a:xfrm>
            <a:off x="6625856" y="3166943"/>
            <a:ext cx="23352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FF00"/>
                </a:solidFill>
              </a:rPr>
              <a:t>Authentication → JWT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286F6FB-5854-5032-8909-1FFCE535106F}"/>
              </a:ext>
            </a:extLst>
          </p:cNvPr>
          <p:cNvSpPr txBox="1"/>
          <p:nvPr/>
        </p:nvSpPr>
        <p:spPr>
          <a:xfrm>
            <a:off x="6625856" y="3518654"/>
            <a:ext cx="168357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solidFill>
                  <a:srgbClr val="FFFF00"/>
                </a:solidFill>
              </a:rPr>
              <a:t>API → REST API</a:t>
            </a:r>
          </a:p>
        </p:txBody>
      </p:sp>
      <p:sp>
        <p:nvSpPr>
          <p:cNvPr id="26" name="Rounded Rectangle 3">
            <a:extLst>
              <a:ext uri="{FF2B5EF4-FFF2-40B4-BE49-F238E27FC236}">
                <a16:creationId xmlns:a16="http://schemas.microsoft.com/office/drawing/2014/main" id="{B90E0D67-9B7F-5928-9ABD-A6C0C6746446}"/>
              </a:ext>
            </a:extLst>
          </p:cNvPr>
          <p:cNvSpPr/>
          <p:nvPr/>
        </p:nvSpPr>
        <p:spPr>
          <a:xfrm>
            <a:off x="2934232" y="2992555"/>
            <a:ext cx="329184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User → Frontend (React)</a:t>
            </a:r>
          </a:p>
        </p:txBody>
      </p:sp>
      <p:sp>
        <p:nvSpPr>
          <p:cNvPr id="27" name="Rounded Rectangle 4">
            <a:extLst>
              <a:ext uri="{FF2B5EF4-FFF2-40B4-BE49-F238E27FC236}">
                <a16:creationId xmlns:a16="http://schemas.microsoft.com/office/drawing/2014/main" id="{0BEA3B75-5875-FB30-74B6-CEDF419A8823}"/>
              </a:ext>
            </a:extLst>
          </p:cNvPr>
          <p:cNvSpPr/>
          <p:nvPr/>
        </p:nvSpPr>
        <p:spPr>
          <a:xfrm>
            <a:off x="2934232" y="3436727"/>
            <a:ext cx="329184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Backend (Node.js / Express)</a:t>
            </a:r>
          </a:p>
        </p:txBody>
      </p:sp>
      <p:sp>
        <p:nvSpPr>
          <p:cNvPr id="28" name="Rounded Rectangle 5">
            <a:extLst>
              <a:ext uri="{FF2B5EF4-FFF2-40B4-BE49-F238E27FC236}">
                <a16:creationId xmlns:a16="http://schemas.microsoft.com/office/drawing/2014/main" id="{CB0D3234-D70F-55C9-4742-0B44EC8C16B8}"/>
              </a:ext>
            </a:extLst>
          </p:cNvPr>
          <p:cNvSpPr/>
          <p:nvPr/>
        </p:nvSpPr>
        <p:spPr>
          <a:xfrm>
            <a:off x="2926080" y="3887986"/>
            <a:ext cx="3291840" cy="3657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Database (SQLite)</a:t>
            </a:r>
          </a:p>
        </p:txBody>
      </p:sp>
      <p:sp>
        <p:nvSpPr>
          <p:cNvPr id="29" name="Rounded Rectangle 6">
            <a:extLst>
              <a:ext uri="{FF2B5EF4-FFF2-40B4-BE49-F238E27FC236}">
                <a16:creationId xmlns:a16="http://schemas.microsoft.com/office/drawing/2014/main" id="{46C6C017-FD64-8BE6-3611-DFBD8D8EA978}"/>
              </a:ext>
            </a:extLst>
          </p:cNvPr>
          <p:cNvSpPr/>
          <p:nvPr/>
        </p:nvSpPr>
        <p:spPr>
          <a:xfrm>
            <a:off x="2934232" y="4328983"/>
            <a:ext cx="3291840" cy="53001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dirty="0"/>
              <a:t>Power BI Dashboard (Embedded)</a:t>
            </a:r>
          </a:p>
        </p:txBody>
      </p:sp>
      <p:sp>
        <p:nvSpPr>
          <p:cNvPr id="30" name="Down Arrow 7">
            <a:extLst>
              <a:ext uri="{FF2B5EF4-FFF2-40B4-BE49-F238E27FC236}">
                <a16:creationId xmlns:a16="http://schemas.microsoft.com/office/drawing/2014/main" id="{E1DE17B1-500F-2056-1E9A-AF7A671FB07E}"/>
              </a:ext>
            </a:extLst>
          </p:cNvPr>
          <p:cNvSpPr/>
          <p:nvPr/>
        </p:nvSpPr>
        <p:spPr>
          <a:xfrm>
            <a:off x="4325750" y="3351256"/>
            <a:ext cx="109728" cy="82296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Down Arrow 7">
            <a:extLst>
              <a:ext uri="{FF2B5EF4-FFF2-40B4-BE49-F238E27FC236}">
                <a16:creationId xmlns:a16="http://schemas.microsoft.com/office/drawing/2014/main" id="{C5F9E7BB-F667-E2CE-36D3-7982183AAAFC}"/>
              </a:ext>
            </a:extLst>
          </p:cNvPr>
          <p:cNvSpPr/>
          <p:nvPr/>
        </p:nvSpPr>
        <p:spPr>
          <a:xfrm>
            <a:off x="4325750" y="3805322"/>
            <a:ext cx="109728" cy="82296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Down Arrow 7">
            <a:extLst>
              <a:ext uri="{FF2B5EF4-FFF2-40B4-BE49-F238E27FC236}">
                <a16:creationId xmlns:a16="http://schemas.microsoft.com/office/drawing/2014/main" id="{0ABCAD8A-1A39-6D32-A3CD-A96164F16F53}"/>
              </a:ext>
            </a:extLst>
          </p:cNvPr>
          <p:cNvSpPr/>
          <p:nvPr/>
        </p:nvSpPr>
        <p:spPr>
          <a:xfrm>
            <a:off x="4325750" y="4250217"/>
            <a:ext cx="109728" cy="82296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Shape 4">
            <a:extLst>
              <a:ext uri="{FF2B5EF4-FFF2-40B4-BE49-F238E27FC236}">
                <a16:creationId xmlns:a16="http://schemas.microsoft.com/office/drawing/2014/main" id="{A130BD72-0161-CAEA-6BA0-34EFA365FCCC}"/>
              </a:ext>
            </a:extLst>
          </p:cNvPr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  <p:txBody>
          <a:bodyPr/>
          <a:lstStyle/>
          <a:p>
            <a:r>
              <a:rPr lang="en-US" sz="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 Infosys Springboard  |  Interactive Analytics Dashboard – Global Income Distribution</a:t>
            </a:r>
            <a:endParaRPr lang="en-IN" sz="800" dirty="0">
              <a:solidFill>
                <a:schemeClr val="bg1"/>
              </a:solidFill>
            </a:endParaRPr>
          </a:p>
        </p:txBody>
      </p:sp>
      <p:sp>
        <p:nvSpPr>
          <p:cNvPr id="34" name="Shape 0">
            <a:extLst>
              <a:ext uri="{FF2B5EF4-FFF2-40B4-BE49-F238E27FC236}">
                <a16:creationId xmlns:a16="http://schemas.microsoft.com/office/drawing/2014/main" id="{524A9351-BE6C-B4E5-A2A0-928418B0C3F1}"/>
              </a:ext>
            </a:extLst>
          </p:cNvPr>
          <p:cNvSpPr/>
          <p:nvPr/>
        </p:nvSpPr>
        <p:spPr>
          <a:xfrm>
            <a:off x="-5671" y="3532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4008"/>
            <a:ext cx="9144000" cy="685800"/>
          </a:xfrm>
          <a:prstGeom prst="rect">
            <a:avLst/>
          </a:prstGeom>
          <a:solidFill>
            <a:srgbClr val="1B2E45"/>
          </a:solidFill>
          <a:ln w="1270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64008"/>
            <a:ext cx="64008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82880" y="82296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|  Tools &amp; Technologies Used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2880" y="4937760"/>
            <a:ext cx="877824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914400"/>
            <a:ext cx="4206240" cy="1874520"/>
          </a:xfrm>
          <a:prstGeom prst="rect">
            <a:avLst/>
          </a:prstGeom>
          <a:solidFill>
            <a:srgbClr val="1B2E45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28600" y="914400"/>
            <a:ext cx="4206240" cy="34747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38328" y="91440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Analytics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1298448"/>
            <a:ext cx="4023360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Excel (data cleaning &amp; master sheet)</a:t>
            </a:r>
            <a:endParaRPr lang="en-US" sz="1400" dirty="0">
              <a:solidFill>
                <a:schemeClr val="bg1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Desktop (dashboard &amp; DAX measures)</a:t>
            </a:r>
            <a:endParaRPr lang="en-US" sz="1400" dirty="0">
              <a:solidFill>
                <a:schemeClr val="bg1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Bank Open Data (source datasets)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709160" y="914400"/>
            <a:ext cx="4206240" cy="1874520"/>
          </a:xfrm>
          <a:prstGeom prst="rect">
            <a:avLst/>
          </a:prstGeom>
          <a:solidFill>
            <a:srgbClr val="1B2E45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709160" y="914400"/>
            <a:ext cx="4206240" cy="347472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818888" y="91440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00600" y="1298448"/>
            <a:ext cx="4023360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(Vite) – SPA UI framework</a:t>
            </a:r>
            <a:endParaRPr lang="en-US" sz="1400" dirty="0">
              <a:solidFill>
                <a:schemeClr val="bg1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Router – client-side routing</a:t>
            </a:r>
            <a:endParaRPr lang="en-US" sz="1400" dirty="0">
              <a:solidFill>
                <a:schemeClr val="bg1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Vanilla CSS + Glassmorphism styling</a:t>
            </a:r>
            <a:endParaRPr lang="en-US" sz="1400" dirty="0">
              <a:solidFill>
                <a:schemeClr val="bg1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Lucide React – SVG icon library</a:t>
            </a:r>
            <a:endParaRPr lang="en-US" sz="1400" dirty="0">
              <a:solidFill>
                <a:schemeClr val="bg1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API – auth &amp; theme state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28600" y="2926080"/>
            <a:ext cx="4206240" cy="1874520"/>
          </a:xfrm>
          <a:prstGeom prst="rect">
            <a:avLst/>
          </a:prstGeom>
          <a:solidFill>
            <a:srgbClr val="1B2E45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28600" y="2926080"/>
            <a:ext cx="4206240" cy="3474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38328" y="292608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" y="3310128"/>
            <a:ext cx="4023360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&amp; Express – REST API server</a:t>
            </a:r>
            <a:endParaRPr lang="en-US" sz="1400" dirty="0">
              <a:solidFill>
                <a:schemeClr val="bg1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SQLite3 – file-based relational database</a:t>
            </a:r>
            <a:endParaRPr lang="en-US" sz="1400" dirty="0">
              <a:solidFill>
                <a:schemeClr val="bg1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Web Tokens (JWT) – authentication</a:t>
            </a:r>
            <a:endParaRPr lang="en-US" sz="1400" dirty="0">
              <a:solidFill>
                <a:schemeClr val="bg1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Bcrypt.js – password hashing</a:t>
            </a:r>
            <a:endParaRPr lang="en-US" sz="1400" dirty="0">
              <a:solidFill>
                <a:schemeClr val="bg1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&amp; Dotenv – middleware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709160" y="2926080"/>
            <a:ext cx="4206240" cy="1874520"/>
          </a:xfrm>
          <a:prstGeom prst="rect">
            <a:avLst/>
          </a:prstGeom>
          <a:solidFill>
            <a:srgbClr val="1B2E45"/>
          </a:solidFill>
          <a:ln w="1270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4709160" y="2926080"/>
            <a:ext cx="4206240" cy="34747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4818888" y="2926080"/>
            <a:ext cx="4069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00600" y="3310128"/>
            <a:ext cx="4023360" cy="1435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 – frontend hosting (CI/CD)</a:t>
            </a:r>
            <a:endParaRPr lang="en-US" sz="1400" dirty="0">
              <a:solidFill>
                <a:schemeClr val="bg1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– backend + SQLite hosting</a:t>
            </a:r>
            <a:endParaRPr lang="en-US" sz="1400" dirty="0">
              <a:solidFill>
                <a:schemeClr val="bg1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– version control &amp; repository</a:t>
            </a:r>
            <a:endParaRPr lang="en-US" sz="1400" dirty="0">
              <a:solidFill>
                <a:schemeClr val="bg1"/>
              </a:solidFill>
            </a:endParaRPr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Monorepo (/frontend + /backend split)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4" name="Shape 4">
            <a:extLst>
              <a:ext uri="{FF2B5EF4-FFF2-40B4-BE49-F238E27FC236}">
                <a16:creationId xmlns:a16="http://schemas.microsoft.com/office/drawing/2014/main" id="{BFFDD286-7BD8-A500-945B-17EEC8D701A1}"/>
              </a:ext>
            </a:extLst>
          </p:cNvPr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  <p:txBody>
          <a:bodyPr/>
          <a:lstStyle/>
          <a:p>
            <a:r>
              <a:rPr lang="en-US" sz="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Infosys Springboard  |  Interactive Analytics Dashboard – Global Income Distribution</a:t>
            </a:r>
            <a:endParaRPr lang="en-IN" sz="800" b="1" dirty="0"/>
          </a:p>
        </p:txBody>
      </p:sp>
      <p:sp>
        <p:nvSpPr>
          <p:cNvPr id="25" name="Shape 0">
            <a:extLst>
              <a:ext uri="{FF2B5EF4-FFF2-40B4-BE49-F238E27FC236}">
                <a16:creationId xmlns:a16="http://schemas.microsoft.com/office/drawing/2014/main" id="{F5ED882F-75F5-EF5E-A8C1-A00A5DE4C9A8}"/>
              </a:ext>
            </a:extLst>
          </p:cNvPr>
          <p:cNvSpPr/>
          <p:nvPr/>
        </p:nvSpPr>
        <p:spPr>
          <a:xfrm>
            <a:off x="-5671" y="3532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68226-B422-6F2E-6B7A-288B70A786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02A3718-A230-F8E7-0AD9-9F660B608878}"/>
              </a:ext>
            </a:extLst>
          </p:cNvPr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9F6DE91-C182-ACBE-1BDA-76061A3CDB9B}"/>
              </a:ext>
            </a:extLst>
          </p:cNvPr>
          <p:cNvSpPr/>
          <p:nvPr/>
        </p:nvSpPr>
        <p:spPr>
          <a:xfrm>
            <a:off x="64008" y="109728"/>
            <a:ext cx="88056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036FB235-8C85-7C76-F6EC-E32F8A0CDBEF}"/>
              </a:ext>
            </a:extLst>
          </p:cNvPr>
          <p:cNvSpPr/>
          <p:nvPr/>
        </p:nvSpPr>
        <p:spPr>
          <a:xfrm>
            <a:off x="64008" y="713231"/>
            <a:ext cx="9079992" cy="45719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64180C6-1610-EF4A-861A-0DA178C90751}"/>
              </a:ext>
            </a:extLst>
          </p:cNvPr>
          <p:cNvSpPr/>
          <p:nvPr/>
        </p:nvSpPr>
        <p:spPr>
          <a:xfrm>
            <a:off x="274320" y="804672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DF5377AB-DA8C-AD1A-0B2A-C3158FD1E871}"/>
              </a:ext>
            </a:extLst>
          </p:cNvPr>
          <p:cNvSpPr/>
          <p:nvPr/>
        </p:nvSpPr>
        <p:spPr>
          <a:xfrm>
            <a:off x="274320" y="1234440"/>
            <a:ext cx="8595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0BEA9810-4BDF-E41A-6C15-DC0FD624DF7F}"/>
              </a:ext>
            </a:extLst>
          </p:cNvPr>
          <p:cNvSpPr/>
          <p:nvPr/>
        </p:nvSpPr>
        <p:spPr>
          <a:xfrm>
            <a:off x="320040" y="245059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B2CB81B0-BF70-3393-393D-4134F3518F4C}"/>
              </a:ext>
            </a:extLst>
          </p:cNvPr>
          <p:cNvSpPr/>
          <p:nvPr/>
        </p:nvSpPr>
        <p:spPr>
          <a:xfrm>
            <a:off x="320040" y="2852928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FFD6D199-9045-7D76-7D43-2036595A03AD}"/>
              </a:ext>
            </a:extLst>
          </p:cNvPr>
          <p:cNvSpPr/>
          <p:nvPr/>
        </p:nvSpPr>
        <p:spPr>
          <a:xfrm>
            <a:off x="3246120" y="245059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274871C-B163-09D2-803C-D48CA00B0520}"/>
              </a:ext>
            </a:extLst>
          </p:cNvPr>
          <p:cNvSpPr/>
          <p:nvPr/>
        </p:nvSpPr>
        <p:spPr>
          <a:xfrm>
            <a:off x="3246120" y="2852928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99B17F31-F557-2B02-9B1C-6349C8DCB3C4}"/>
              </a:ext>
            </a:extLst>
          </p:cNvPr>
          <p:cNvSpPr/>
          <p:nvPr/>
        </p:nvSpPr>
        <p:spPr>
          <a:xfrm>
            <a:off x="6172200" y="245059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35CDE13F-E699-2334-2CE5-0158996186E8}"/>
              </a:ext>
            </a:extLst>
          </p:cNvPr>
          <p:cNvSpPr/>
          <p:nvPr/>
        </p:nvSpPr>
        <p:spPr>
          <a:xfrm>
            <a:off x="6172200" y="2852928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38118A11-12E9-DE1C-2575-49C37CADA2E7}"/>
              </a:ext>
            </a:extLst>
          </p:cNvPr>
          <p:cNvSpPr/>
          <p:nvPr/>
        </p:nvSpPr>
        <p:spPr>
          <a:xfrm>
            <a:off x="274320" y="39776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A9EADD73-5D38-75CC-9025-33855C687734}"/>
              </a:ext>
            </a:extLst>
          </p:cNvPr>
          <p:cNvSpPr/>
          <p:nvPr/>
        </p:nvSpPr>
        <p:spPr>
          <a:xfrm>
            <a:off x="274320" y="44348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900" b="1" dirty="0">
              <a:solidFill>
                <a:schemeClr val="bg1"/>
              </a:solidFill>
            </a:endParaRPr>
          </a:p>
        </p:txBody>
      </p:sp>
      <p:sp>
        <p:nvSpPr>
          <p:cNvPr id="22" name="Shape 2">
            <a:extLst>
              <a:ext uri="{FF2B5EF4-FFF2-40B4-BE49-F238E27FC236}">
                <a16:creationId xmlns:a16="http://schemas.microsoft.com/office/drawing/2014/main" id="{D4E866C8-CBB6-BAEF-234A-34801AD8FF99}"/>
              </a:ext>
            </a:extLst>
          </p:cNvPr>
          <p:cNvSpPr/>
          <p:nvPr/>
        </p:nvSpPr>
        <p:spPr>
          <a:xfrm>
            <a:off x="0" y="64008"/>
            <a:ext cx="64008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1">
            <a:extLst>
              <a:ext uri="{FF2B5EF4-FFF2-40B4-BE49-F238E27FC236}">
                <a16:creationId xmlns:a16="http://schemas.microsoft.com/office/drawing/2014/main" id="{B1B2B1B4-423B-7952-31BA-FD8CF45DEC42}"/>
              </a:ext>
            </a:extLst>
          </p:cNvPr>
          <p:cNvSpPr/>
          <p:nvPr/>
        </p:nvSpPr>
        <p:spPr>
          <a:xfrm>
            <a:off x="64008" y="73150"/>
            <a:ext cx="9079992" cy="68580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  <p:txBody>
          <a:bodyPr anchor="ctr"/>
          <a:lstStyle/>
          <a:p>
            <a:r>
              <a:rPr lang="en-IN" sz="2200" b="1" dirty="0">
                <a:solidFill>
                  <a:schemeClr val="bg1"/>
                </a:solidFill>
              </a:rPr>
              <a:t>07  |  </a:t>
            </a:r>
            <a:r>
              <a:rPr lang="en-IN" sz="2200" dirty="0">
                <a:solidFill>
                  <a:schemeClr val="bg1"/>
                </a:solidFill>
              </a:rPr>
              <a:t>Key Features &amp; Highlights</a:t>
            </a:r>
            <a:endParaRPr lang="en-IN" sz="2200" b="1" dirty="0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55049AD-8E39-69AF-0E0A-86874E1A818C}"/>
              </a:ext>
            </a:extLst>
          </p:cNvPr>
          <p:cNvSpPr txBox="1"/>
          <p:nvPr/>
        </p:nvSpPr>
        <p:spPr>
          <a:xfrm>
            <a:off x="64008" y="813816"/>
            <a:ext cx="5365898" cy="4016484"/>
          </a:xfrm>
          <a:prstGeom prst="rect">
            <a:avLst/>
          </a:prstGeom>
          <a:solidFill>
            <a:srgbClr val="1B2E45"/>
          </a:solidFill>
        </p:spPr>
        <p:txBody>
          <a:bodyPr wrap="square">
            <a:spAutoFit/>
          </a:bodyPr>
          <a:lstStyle/>
          <a:p>
            <a:r>
              <a:rPr lang="en-IN" sz="1700" dirty="0">
                <a:solidFill>
                  <a:srgbClr val="FFFF00"/>
                </a:solidFill>
              </a:rPr>
              <a:t>• Interactive Power BI Dashboard Integration</a:t>
            </a:r>
          </a:p>
          <a:p>
            <a:r>
              <a:rPr lang="en-IN" sz="1700" dirty="0">
                <a:solidFill>
                  <a:srgbClr val="FFFF00"/>
                </a:solidFill>
              </a:rPr>
              <a:t>  </a:t>
            </a:r>
          </a:p>
          <a:p>
            <a:r>
              <a:rPr lang="en-IN" sz="1700" dirty="0">
                <a:solidFill>
                  <a:srgbClr val="FFFF00"/>
                </a:solidFill>
              </a:rPr>
              <a:t>• Country Comparison Tool</a:t>
            </a:r>
          </a:p>
          <a:p>
            <a:r>
              <a:rPr lang="en-IN" sz="1700" dirty="0">
                <a:solidFill>
                  <a:srgbClr val="FFFF00"/>
                </a:solidFill>
              </a:rPr>
              <a:t>  </a:t>
            </a:r>
          </a:p>
          <a:p>
            <a:r>
              <a:rPr lang="en-IN" sz="1700" dirty="0">
                <a:solidFill>
                  <a:srgbClr val="FFFF00"/>
                </a:solidFill>
              </a:rPr>
              <a:t>• JWT-Based Secure Authentication  </a:t>
            </a:r>
          </a:p>
          <a:p>
            <a:endParaRPr lang="en-IN" sz="1700" dirty="0">
              <a:solidFill>
                <a:srgbClr val="FFFF00"/>
              </a:solidFill>
            </a:endParaRPr>
          </a:p>
          <a:p>
            <a:r>
              <a:rPr lang="en-IN" sz="1700" dirty="0">
                <a:solidFill>
                  <a:srgbClr val="FFFF00"/>
                </a:solidFill>
              </a:rPr>
              <a:t>• Admin Dashboard with User Management</a:t>
            </a:r>
          </a:p>
          <a:p>
            <a:r>
              <a:rPr lang="en-IN" sz="1700" dirty="0">
                <a:solidFill>
                  <a:srgbClr val="FFFF00"/>
                </a:solidFill>
              </a:rPr>
              <a:t>  </a:t>
            </a:r>
          </a:p>
          <a:p>
            <a:r>
              <a:rPr lang="en-IN" sz="1700" dirty="0">
                <a:solidFill>
                  <a:srgbClr val="FFFF00"/>
                </a:solidFill>
              </a:rPr>
              <a:t>• Real-time Data Filtering &amp; Analysis </a:t>
            </a:r>
          </a:p>
          <a:p>
            <a:r>
              <a:rPr lang="en-IN" sz="1700" dirty="0">
                <a:solidFill>
                  <a:srgbClr val="FFFF00"/>
                </a:solidFill>
              </a:rPr>
              <a:t> </a:t>
            </a:r>
          </a:p>
          <a:p>
            <a:r>
              <a:rPr lang="en-IN" sz="1700" dirty="0">
                <a:solidFill>
                  <a:srgbClr val="FFFF00"/>
                </a:solidFill>
              </a:rPr>
              <a:t>• Data Export (CSV / Excel Reports) </a:t>
            </a:r>
          </a:p>
          <a:p>
            <a:r>
              <a:rPr lang="en-IN" sz="1700" dirty="0">
                <a:solidFill>
                  <a:srgbClr val="FFFF00"/>
                </a:solidFill>
              </a:rPr>
              <a:t> </a:t>
            </a:r>
          </a:p>
          <a:p>
            <a:r>
              <a:rPr lang="en-IN" sz="1700" dirty="0">
                <a:solidFill>
                  <a:srgbClr val="FFFF00"/>
                </a:solidFill>
              </a:rPr>
              <a:t>• Global Inequality Insights &amp; KPIs  </a:t>
            </a:r>
          </a:p>
          <a:p>
            <a:endParaRPr lang="en-IN" sz="1700" dirty="0">
              <a:solidFill>
                <a:srgbClr val="FFFF00"/>
              </a:solidFill>
            </a:endParaRPr>
          </a:p>
          <a:p>
            <a:r>
              <a:rPr lang="en-IN" sz="1700" dirty="0">
                <a:solidFill>
                  <a:srgbClr val="FFFF00"/>
                </a:solidFill>
              </a:rPr>
              <a:t>• Responsive Full-Stack Web Application </a:t>
            </a:r>
          </a:p>
        </p:txBody>
      </p:sp>
      <p:sp>
        <p:nvSpPr>
          <p:cNvPr id="27" name="Shape 4">
            <a:extLst>
              <a:ext uri="{FF2B5EF4-FFF2-40B4-BE49-F238E27FC236}">
                <a16:creationId xmlns:a16="http://schemas.microsoft.com/office/drawing/2014/main" id="{BEBE35C3-29F0-3520-10AA-3EDFFBDE4BD7}"/>
              </a:ext>
            </a:extLst>
          </p:cNvPr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  <p:txBody>
          <a:bodyPr/>
          <a:lstStyle/>
          <a:p>
            <a:r>
              <a:rPr lang="en-US" sz="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Infosys Springboard  |  Interactive Analytics Dashboard – Global Income Distribution</a:t>
            </a:r>
            <a:endParaRPr lang="en-US" sz="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23932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4008"/>
            <a:ext cx="9144000" cy="68580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64008"/>
            <a:ext cx="64008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82880" y="82296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|  Key Insights &amp; Findings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82880" y="4937760"/>
            <a:ext cx="877824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 |  Interactive Analytics Dashboard – Global Income Distribution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228600" y="960120"/>
            <a:ext cx="2743200" cy="1737360"/>
          </a:xfrm>
          <a:prstGeom prst="rect">
            <a:avLst/>
          </a:prstGeom>
          <a:solidFill>
            <a:srgbClr val="1B2E4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28600" y="960120"/>
            <a:ext cx="54864" cy="1737360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65760" y="10515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F47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🌍  Top 10 Unequal Countries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5760" y="1463040"/>
            <a:ext cx="2514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 (96), Colombia (95), Panama (91), Honduras (90) &amp; Paraguay (87) rank highest on the Inequality Severity Index — all Latin American nations.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54680" y="960120"/>
            <a:ext cx="2743200" cy="1737360"/>
          </a:xfrm>
          <a:prstGeom prst="rect">
            <a:avLst/>
          </a:prstGeom>
          <a:solidFill>
            <a:srgbClr val="1B2E4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154680" y="960120"/>
            <a:ext cx="54864" cy="1737360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291840" y="10515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💰  GDP ≠ Citizen Welfare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91840" y="1463040"/>
            <a:ext cx="2514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Luxembourg, Norway &amp; Switzerland lead GDP per capita, but high GDP-vs-Median Income gaps reveal economic growth is not always proportionately distributed to citizens.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80760" y="960120"/>
            <a:ext cx="2743200" cy="1737360"/>
          </a:xfrm>
          <a:prstGeom prst="rect">
            <a:avLst/>
          </a:prstGeom>
          <a:solidFill>
            <a:srgbClr val="1B2E4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80760" y="960120"/>
            <a:ext cx="54864" cy="17373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217920" y="105156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Global Gini Declining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217920" y="1463040"/>
            <a:ext cx="2514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Gini Index trend chart shows a measurable global downward trend from ~39 (2000) toward ~36 (2022), suggesting slow but steady improvements in income equality.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28600" y="2880360"/>
            <a:ext cx="2743200" cy="1737360"/>
          </a:xfrm>
          <a:prstGeom prst="rect">
            <a:avLst/>
          </a:prstGeom>
          <a:solidFill>
            <a:srgbClr val="1B2E4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28600" y="2880360"/>
            <a:ext cx="54864" cy="17373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365760" y="297180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Best Inclusive Developers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365760" y="3383280"/>
            <a:ext cx="2514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Ireland, Luxembourg, Austria &amp; Denmark score highest on the Inclusive Development Momentum Score — combining GDP strength with low inequality.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154680" y="2880360"/>
            <a:ext cx="2743200" cy="1737360"/>
          </a:xfrm>
          <a:prstGeom prst="rect">
            <a:avLst/>
          </a:prstGeom>
          <a:solidFill>
            <a:srgbClr val="1B2E4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3154680" y="2880360"/>
            <a:ext cx="54864" cy="17373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291840" y="297180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Growth Skewed Economies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291840" y="3383280"/>
            <a:ext cx="2514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high-GDP nations classify as 'Growth Skewed' — economic performance concentrated at the top, with median income significantly below GDP per capita.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080760" y="2880360"/>
            <a:ext cx="2743200" cy="1737360"/>
          </a:xfrm>
          <a:prstGeom prst="rect">
            <a:avLst/>
          </a:prstGeom>
          <a:solidFill>
            <a:srgbClr val="1B2E4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6080760" y="2880360"/>
            <a:ext cx="54864" cy="1737360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6217920" y="2971800"/>
            <a:ext cx="2514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Income Concentration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217920" y="3383280"/>
            <a:ext cx="251460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10% income share is on average 11.25× the Bottom 10% share globally, highlighting persistent wealth concentration even in relatively equal economies.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4008"/>
            <a:ext cx="9144000" cy="685800"/>
          </a:xfrm>
          <a:prstGeom prst="rect">
            <a:avLst/>
          </a:prstGeom>
          <a:solidFill>
            <a:srgbClr val="1B2E45"/>
          </a:solidFill>
          <a:ln w="12700">
            <a:noFill/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64008"/>
            <a:ext cx="64008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82880" y="82296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|  Challenges Faced &amp; Solutions Implemented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2880" y="4937760"/>
            <a:ext cx="877824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28600" y="960120"/>
            <a:ext cx="3931920" cy="658368"/>
          </a:xfrm>
          <a:prstGeom prst="rect">
            <a:avLst/>
          </a:prstGeom>
          <a:solidFill>
            <a:srgbClr val="1B2E45"/>
          </a:solidFill>
          <a:ln w="19050">
            <a:solidFill>
              <a:srgbClr val="EF476F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28600" y="960120"/>
            <a:ext cx="54864" cy="65836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47472" y="1014984"/>
            <a:ext cx="37307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</a:t>
            </a: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&amp; Inconsistent Data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1" name="Text 9"/>
          <p:cNvSpPr/>
          <p:nvPr/>
        </p:nvSpPr>
        <p:spPr>
          <a:xfrm>
            <a:off x="4224528" y="112471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F476F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4754880" y="960120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754880" y="960120"/>
            <a:ext cx="54864" cy="658368"/>
          </a:xfrm>
          <a:prstGeom prst="rect">
            <a:avLst/>
          </a:prstGeom>
          <a:solidFill>
            <a:srgbClr val="EF476F"/>
          </a:solidFill>
          <a:ln w="12700">
            <a:solidFill>
              <a:srgbClr val="EF476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809744" y="960120"/>
            <a:ext cx="4105656" cy="658368"/>
          </a:xfrm>
          <a:prstGeom prst="rect">
            <a:avLst/>
          </a:prstGeom>
          <a:solidFill>
            <a:srgbClr val="1B2E45"/>
          </a:solidFill>
          <a:ln>
            <a:solidFill>
              <a:srgbClr val="FF00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</a:t>
            </a: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linear interpolation for sparse yearly data and used country-level averages for non-interpolable gaps; standardized all column names and formats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28600" y="1719072"/>
            <a:ext cx="3931920" cy="658368"/>
          </a:xfrm>
          <a:prstGeom prst="rect">
            <a:avLst/>
          </a:prstGeom>
          <a:solidFill>
            <a:srgbClr val="1B2E45"/>
          </a:solidFill>
          <a:ln w="19050">
            <a:solidFill>
              <a:srgbClr val="F9C74F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28600" y="1719072"/>
            <a:ext cx="54864" cy="658368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347472" y="1773936"/>
            <a:ext cx="37307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</a:t>
            </a: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Meaningful Composite KPIs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18" name="Text 16"/>
          <p:cNvSpPr/>
          <p:nvPr/>
        </p:nvSpPr>
        <p:spPr>
          <a:xfrm>
            <a:off x="4224528" y="188366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9C74F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754880" y="1719072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754880" y="1719072"/>
            <a:ext cx="54864" cy="658368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809744" y="1719072"/>
            <a:ext cx="4096512" cy="658368"/>
          </a:xfrm>
          <a:prstGeom prst="rect">
            <a:avLst/>
          </a:prstGeom>
          <a:solidFill>
            <a:srgbClr val="1B2E45"/>
          </a:solidFill>
          <a:ln>
            <a:solidFill>
              <a:srgbClr val="FFC00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</a:t>
            </a: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Studied DAX documentation to build multi-variable measures like Inequality Severity Index (combining Gini + Top/Bottom 10% shares) and Inclusive Development Score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28600" y="2478024"/>
            <a:ext cx="3931920" cy="658368"/>
          </a:xfrm>
          <a:prstGeom prst="rect">
            <a:avLst/>
          </a:prstGeom>
          <a:solidFill>
            <a:srgbClr val="1B2E45"/>
          </a:solidFill>
          <a:ln w="19050">
            <a:solidFill>
              <a:srgbClr val="7B2D8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228600" y="2478024"/>
            <a:ext cx="54864" cy="658368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47472" y="2532888"/>
            <a:ext cx="373075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</a:t>
            </a: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Power BI in React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25" name="Text 23"/>
          <p:cNvSpPr/>
          <p:nvPr/>
        </p:nvSpPr>
        <p:spPr>
          <a:xfrm>
            <a:off x="4224528" y="2642616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B2D8B"/>
                </a:solidFill>
              </a:rPr>
              <a:t>→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4754880" y="2478024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4754880" y="2478024"/>
            <a:ext cx="54864" cy="658368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Text 26"/>
          <p:cNvSpPr/>
          <p:nvPr/>
        </p:nvSpPr>
        <p:spPr>
          <a:xfrm>
            <a:off x="4809744" y="2478024"/>
            <a:ext cx="4105656" cy="658368"/>
          </a:xfrm>
          <a:prstGeom prst="rect">
            <a:avLst/>
          </a:prstGeom>
          <a:solidFill>
            <a:srgbClr val="1B2E45"/>
          </a:solidFill>
          <a:ln>
            <a:solidFill>
              <a:srgbClr val="7030A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</a:t>
            </a: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a responsive iframe embed of the published Power BI report URL, integrated directly into React Router's /dashboard component with CSS adjustments for fullscreen display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228600" y="3236976"/>
            <a:ext cx="393192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077B6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228600" y="3236976"/>
            <a:ext cx="54864" cy="65836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283464" y="3236976"/>
            <a:ext cx="3867912" cy="658368"/>
          </a:xfrm>
          <a:prstGeom prst="rect">
            <a:avLst/>
          </a:prstGeom>
          <a:solidFill>
            <a:srgbClr val="1B2E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</a:t>
            </a: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Implementing Secure JWT Authentication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32" name="Text 30"/>
          <p:cNvSpPr/>
          <p:nvPr/>
        </p:nvSpPr>
        <p:spPr>
          <a:xfrm>
            <a:off x="4224528" y="340156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77B6"/>
                </a:solidFill>
              </a:rPr>
              <a:t>→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4754880" y="3236976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4754880" y="3236976"/>
            <a:ext cx="54864" cy="65836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809744" y="3236976"/>
            <a:ext cx="4105656" cy="658368"/>
          </a:xfrm>
          <a:prstGeom prst="rect">
            <a:avLst/>
          </a:prstGeom>
          <a:solidFill>
            <a:srgbClr val="1B2E45"/>
          </a:solidFill>
          <a:ln>
            <a:solidFill>
              <a:srgbClr val="0070C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</a:t>
            </a: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bcrypt password hashing on registration; configured JWT token generation on login, stored in localStorage; created &lt;ProtectedRoute&gt; HOC to guard private pages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36" name="Shape 34"/>
          <p:cNvSpPr/>
          <p:nvPr/>
        </p:nvSpPr>
        <p:spPr>
          <a:xfrm>
            <a:off x="228600" y="3995928"/>
            <a:ext cx="3931920" cy="658368"/>
          </a:xfrm>
          <a:prstGeom prst="rect">
            <a:avLst/>
          </a:prstGeom>
          <a:solidFill>
            <a:srgbClr val="FFFFFF"/>
          </a:solidFill>
          <a:ln w="19050">
            <a:solidFill>
              <a:srgbClr val="059669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228600" y="3995928"/>
            <a:ext cx="54864" cy="6583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283464" y="3995928"/>
            <a:ext cx="3867912" cy="658368"/>
          </a:xfrm>
          <a:prstGeom prst="rect">
            <a:avLst/>
          </a:prstGeom>
          <a:solidFill>
            <a:srgbClr val="1B2E4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</a:t>
            </a:r>
            <a:r>
              <a:rPr lang="en-US" sz="1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Frontend–Backend Communication &amp; CORS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39" name="Text 37"/>
          <p:cNvSpPr/>
          <p:nvPr/>
        </p:nvSpPr>
        <p:spPr>
          <a:xfrm>
            <a:off x="4224528" y="416052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59669"/>
                </a:solidFill>
              </a:rPr>
              <a:t>→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4754880" y="3995928"/>
            <a:ext cx="41605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4754880" y="3995928"/>
            <a:ext cx="54864" cy="65836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4809744" y="3995928"/>
            <a:ext cx="4096512" cy="658368"/>
          </a:xfrm>
          <a:prstGeom prst="rect">
            <a:avLst/>
          </a:prstGeom>
          <a:solidFill>
            <a:srgbClr val="1B2E45"/>
          </a:solidFill>
          <a:ln>
            <a:solidFill>
              <a:srgbClr val="00B050"/>
            </a:solidFill>
          </a:ln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</a:t>
            </a:r>
            <a:r>
              <a:rPr lang="en-US" sz="9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Abstracted all API URLs into .env config files; configured CORS middleware on Express to allow Vercel's frontend domain; debugged request/response headers systematically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43" name="Text 41"/>
          <p:cNvSpPr/>
          <p:nvPr/>
        </p:nvSpPr>
        <p:spPr>
          <a:xfrm>
            <a:off x="228600" y="78638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</a:t>
            </a:r>
            <a:endParaRPr lang="en-US" sz="850" dirty="0">
              <a:solidFill>
                <a:srgbClr val="FFFF00"/>
              </a:solidFill>
            </a:endParaRPr>
          </a:p>
        </p:txBody>
      </p:sp>
      <p:sp>
        <p:nvSpPr>
          <p:cNvPr id="44" name="Text 42"/>
          <p:cNvSpPr/>
          <p:nvPr/>
        </p:nvSpPr>
        <p:spPr>
          <a:xfrm>
            <a:off x="4754880" y="786384"/>
            <a:ext cx="4160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FFF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50" dirty="0">
              <a:solidFill>
                <a:srgbClr val="FFFF00"/>
              </a:solidFill>
            </a:endParaRPr>
          </a:p>
        </p:txBody>
      </p:sp>
      <p:sp>
        <p:nvSpPr>
          <p:cNvPr id="45" name="Shape 4">
            <a:extLst>
              <a:ext uri="{FF2B5EF4-FFF2-40B4-BE49-F238E27FC236}">
                <a16:creationId xmlns:a16="http://schemas.microsoft.com/office/drawing/2014/main" id="{2DC6BF4C-DAD7-5A9A-9AC1-07E3111E7FE7}"/>
              </a:ext>
            </a:extLst>
          </p:cNvPr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  <p:txBody>
          <a:bodyPr/>
          <a:lstStyle/>
          <a:p>
            <a:r>
              <a:rPr lang="en-US" sz="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Infosys Springboard  |  Interactive Analytics Dashboard – Global Income Distribution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46" name="Shape 0">
            <a:extLst>
              <a:ext uri="{FF2B5EF4-FFF2-40B4-BE49-F238E27FC236}">
                <a16:creationId xmlns:a16="http://schemas.microsoft.com/office/drawing/2014/main" id="{2ACDD544-67E4-7CB9-AFEC-6B30E4D2BE81}"/>
              </a:ext>
            </a:extLst>
          </p:cNvPr>
          <p:cNvSpPr/>
          <p:nvPr/>
        </p:nvSpPr>
        <p:spPr>
          <a:xfrm>
            <a:off x="0" y="-11093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4008"/>
            <a:ext cx="9144000" cy="68580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0" y="64008"/>
            <a:ext cx="64008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182880" y="82296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|  Project Outcomes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82880" y="4937760"/>
            <a:ext cx="8778240" cy="2057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 |  Interactive Analytics Dashboard – Global Income Distribution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228600" y="960120"/>
            <a:ext cx="2011680" cy="914400"/>
          </a:xfrm>
          <a:prstGeom prst="rect">
            <a:avLst/>
          </a:prstGeom>
          <a:solidFill>
            <a:srgbClr val="1B2E4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28600" y="960120"/>
            <a:ext cx="2011680" cy="5486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20040" y="1024128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74320" y="143560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</a:t>
            </a:r>
            <a:endParaRPr lang="en-US" sz="800" b="1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423160" y="960120"/>
            <a:ext cx="2011680" cy="914400"/>
          </a:xfrm>
          <a:prstGeom prst="rect">
            <a:avLst/>
          </a:prstGeom>
          <a:solidFill>
            <a:srgbClr val="1B2E4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2423160" y="960120"/>
            <a:ext cx="2011680" cy="54864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514600" y="1024128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468880" y="143560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800" b="1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Duration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617720" y="960120"/>
            <a:ext cx="2011680" cy="914400"/>
          </a:xfrm>
          <a:prstGeom prst="rect">
            <a:avLst/>
          </a:prstGeom>
          <a:solidFill>
            <a:srgbClr val="1B2E4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617720" y="960120"/>
            <a:ext cx="201168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709160" y="1024128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4663440" y="143560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Measures</a:t>
            </a:r>
            <a:endParaRPr lang="en-US" sz="800" b="1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KPIs Built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812280" y="960120"/>
            <a:ext cx="2011680" cy="914400"/>
          </a:xfrm>
          <a:prstGeom prst="rect">
            <a:avLst/>
          </a:prstGeom>
          <a:solidFill>
            <a:srgbClr val="1B2E4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6812280" y="960120"/>
            <a:ext cx="2011680" cy="5486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903720" y="1024128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858000" y="143560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800" b="1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r>
              <a:rPr lang="en-US" sz="8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Sheet Fields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28600" y="2011680"/>
            <a:ext cx="4206240" cy="1280160"/>
          </a:xfrm>
          <a:prstGeom prst="rect">
            <a:avLst/>
          </a:prstGeom>
          <a:solidFill>
            <a:srgbClr val="1B2E4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228600" y="2011680"/>
            <a:ext cx="54864" cy="12801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365760" y="208483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Data Analytics Outcome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65760" y="2432304"/>
            <a:ext cx="39776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merged master sheet from World Bank data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composite DAX measures &amp; 2 classification columns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 categorized by inequality level and economic performance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09160" y="2011680"/>
            <a:ext cx="4206240" cy="1280160"/>
          </a:xfrm>
          <a:prstGeom prst="rect">
            <a:avLst/>
          </a:prstGeom>
          <a:solidFill>
            <a:srgbClr val="1B2E4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4709160" y="2011680"/>
            <a:ext cx="54864" cy="12801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4846320" y="208483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Dashboard Outcome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46320" y="2432304"/>
            <a:ext cx="39776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5-section interactive Power BI dashboard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cross-filtering across all visuals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and embedded in live web application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228600" y="3429000"/>
            <a:ext cx="4206240" cy="1280160"/>
          </a:xfrm>
          <a:prstGeom prst="rect">
            <a:avLst/>
          </a:prstGeom>
          <a:solidFill>
            <a:srgbClr val="1B2E4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228600" y="3429000"/>
            <a:ext cx="54864" cy="12801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365760" y="350215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Web Application Outcome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365760" y="3849624"/>
            <a:ext cx="39776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full-stack React + Node.js portal on Vercel/Render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JWT-secured authentication &amp; admin portal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analytics, user management, CSV data exports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709160" y="3429000"/>
            <a:ext cx="4206240" cy="1280160"/>
          </a:xfrm>
          <a:prstGeom prst="rect">
            <a:avLst/>
          </a:prstGeom>
          <a:solidFill>
            <a:srgbClr val="1B2E4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4709160" y="3429000"/>
            <a:ext cx="54864" cy="12801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846320" y="3502152"/>
            <a:ext cx="3977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Learning Outcome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846320" y="3849624"/>
            <a:ext cx="3977640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Mastered DAX, Power BI, React, Node.js, SQLite, JWT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project delivery from raw data to deployment</a:t>
            </a:r>
            <a:endParaRPr lang="en-US" sz="900" dirty="0"/>
          </a:p>
          <a:p>
            <a:pPr marL="342900" indent="-342900">
              <a:buSzPct val="100000"/>
              <a:buChar char="•"/>
            </a:pPr>
            <a:r>
              <a:rPr lang="en-US" sz="9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documentation, teamwork &amp; presentation skills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5074920"/>
            <a:ext cx="9144000" cy="685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64008" y="109728"/>
            <a:ext cx="88056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2200" dirty="0">
              <a:solidFill>
                <a:schemeClr val="bg1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64008" y="713231"/>
            <a:ext cx="9079992" cy="45719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74320" y="804672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" y="1234440"/>
            <a:ext cx="8595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Interactive Analytics Dashboard and Web Portal for Global Income Distribution successfully merges complex socioeconomic data with a high-performance, accessible web interface. By transforming raw World Bank datasets into interactive Power BI visuals and embedding them within a secure full-stack React application, the project delivers a premium research tool for analysts, students, and policymakers worldwide.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28600" y="2377440"/>
            <a:ext cx="2743200" cy="1463040"/>
          </a:xfrm>
          <a:prstGeom prst="rect">
            <a:avLst/>
          </a:prstGeom>
          <a:solidFill>
            <a:srgbClr val="1B2E4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28600" y="2377440"/>
            <a:ext cx="2743200" cy="54864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20040" y="245059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Technical Achievement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2852928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solution: data pipeline → analytics dashboard → live web portal with admin management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154680" y="2377440"/>
            <a:ext cx="2743200" cy="1463040"/>
          </a:xfrm>
          <a:prstGeom prst="rect">
            <a:avLst/>
          </a:prstGeom>
          <a:solidFill>
            <a:srgbClr val="1B2E4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3154680" y="2377440"/>
            <a:ext cx="2743200" cy="54864"/>
          </a:xfrm>
          <a:prstGeom prst="rect">
            <a:avLst/>
          </a:prstGeom>
          <a:solidFill>
            <a:srgbClr val="F9C74F"/>
          </a:solidFill>
          <a:ln w="12700">
            <a:solidFill>
              <a:srgbClr val="F9C74F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246120" y="245059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📚  Skills Developed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46120" y="2852928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DAX, Power BI, React, Node.js, SQLite, JWT authentication, cloud deployment (Vercel + Render)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080760" y="2377440"/>
            <a:ext cx="2743200" cy="1463040"/>
          </a:xfrm>
          <a:prstGeom prst="rect">
            <a:avLst/>
          </a:prstGeom>
          <a:solidFill>
            <a:srgbClr val="1B2E45"/>
          </a:solidFill>
          <a:ln w="1270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080760" y="2377440"/>
            <a:ext cx="2743200" cy="54864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172200" y="2450592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Future Potential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72200" y="2852928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E8F4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architecture ready for additional datasets, ML-based predictions, and expanded global coverage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274320" y="3977640"/>
            <a:ext cx="8595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9C7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Infosys Springboard Virtual Internship 6.0 — Completed Successfully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274320" y="443484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i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13  |  March 2026  |  global-income-distribution.vercel.app</a:t>
            </a:r>
            <a:endParaRPr lang="en-US" sz="900" b="1" dirty="0">
              <a:solidFill>
                <a:schemeClr val="bg1"/>
              </a:solidFill>
            </a:endParaRPr>
          </a:p>
        </p:txBody>
      </p:sp>
      <p:sp>
        <p:nvSpPr>
          <p:cNvPr id="22" name="Shape 2">
            <a:extLst>
              <a:ext uri="{FF2B5EF4-FFF2-40B4-BE49-F238E27FC236}">
                <a16:creationId xmlns:a16="http://schemas.microsoft.com/office/drawing/2014/main" id="{E0B2A3AB-3797-54F3-5522-CC33F739F38D}"/>
              </a:ext>
            </a:extLst>
          </p:cNvPr>
          <p:cNvSpPr/>
          <p:nvPr/>
        </p:nvSpPr>
        <p:spPr>
          <a:xfrm>
            <a:off x="0" y="64008"/>
            <a:ext cx="64008" cy="6858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1">
            <a:extLst>
              <a:ext uri="{FF2B5EF4-FFF2-40B4-BE49-F238E27FC236}">
                <a16:creationId xmlns:a16="http://schemas.microsoft.com/office/drawing/2014/main" id="{69059D0E-37FB-F022-70D5-A3793C1E6A20}"/>
              </a:ext>
            </a:extLst>
          </p:cNvPr>
          <p:cNvSpPr/>
          <p:nvPr/>
        </p:nvSpPr>
        <p:spPr>
          <a:xfrm>
            <a:off x="64008" y="73150"/>
            <a:ext cx="9079992" cy="685800"/>
          </a:xfrm>
          <a:prstGeom prst="rect">
            <a:avLst/>
          </a:prstGeom>
          <a:solidFill>
            <a:srgbClr val="1B2E45"/>
          </a:solidFill>
          <a:ln w="12700">
            <a:solidFill>
              <a:srgbClr val="1B2E45"/>
            </a:solidFill>
            <a:prstDash val="solid"/>
          </a:ln>
        </p:spPr>
        <p:txBody>
          <a:bodyPr anchor="ctr"/>
          <a:lstStyle/>
          <a:p>
            <a:r>
              <a:rPr lang="en-IN" sz="2200" b="1" dirty="0">
                <a:solidFill>
                  <a:schemeClr val="bg1"/>
                </a:solidFill>
              </a:rPr>
              <a:t> 11  |  Conclusion</a:t>
            </a:r>
          </a:p>
        </p:txBody>
      </p:sp>
      <p:sp>
        <p:nvSpPr>
          <p:cNvPr id="24" name="Shape 3">
            <a:extLst>
              <a:ext uri="{FF2B5EF4-FFF2-40B4-BE49-F238E27FC236}">
                <a16:creationId xmlns:a16="http://schemas.microsoft.com/office/drawing/2014/main" id="{706D1E85-D949-44E7-FFFB-A3747A293940}"/>
              </a:ext>
            </a:extLst>
          </p:cNvPr>
          <p:cNvSpPr/>
          <p:nvPr/>
        </p:nvSpPr>
        <p:spPr>
          <a:xfrm>
            <a:off x="0" y="73152"/>
            <a:ext cx="137160" cy="500176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</TotalTime>
  <Words>1823</Words>
  <Application>Microsoft Office PowerPoint</Application>
  <PresentationFormat>On-screen Show (16:9)</PresentationFormat>
  <Paragraphs>280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Interactive Analytics Dashboard for Global Income Distribution</dc:title>
  <dc:subject>PptxGenJS Presentation</dc:subject>
  <dc:creator>PptxGenJS</dc:creator>
  <cp:lastModifiedBy>Onkar Vyawahare</cp:lastModifiedBy>
  <cp:revision>20</cp:revision>
  <dcterms:created xsi:type="dcterms:W3CDTF">2026-03-20T11:53:01Z</dcterms:created>
  <dcterms:modified xsi:type="dcterms:W3CDTF">2026-03-22T14:07:47Z</dcterms:modified>
</cp:coreProperties>
</file>